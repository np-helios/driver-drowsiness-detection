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8102600" cx="14401800"/>
  <p:notesSz cx="6858000" cy="9144000"/>
  <p:embeddedFontLst>
    <p:embeddedFont>
      <p:font typeface="IBM Plex Sa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vPH2v7wBlgGuSXe0ifJqvUFvi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BMPlex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-italic.fntdata"/><Relationship Id="rId25" Type="http://schemas.openxmlformats.org/officeDocument/2006/relationships/font" Target="fonts/IBMPlexSa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IBMPlex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1" Type="http://schemas.openxmlformats.org/officeDocument/2006/relationships/image" Target="../media/image20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image" Target="../media/image30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7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0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" y="28935"/>
            <a:ext cx="14401800" cy="8096250"/>
            <a:chOff x="63500" y="63500"/>
            <a:chExt cx="14401800" cy="8096250"/>
          </a:xfrm>
        </p:grpSpPr>
        <p:sp>
          <p:nvSpPr>
            <p:cNvPr id="85" name="Google Shape;85;p1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</p:sp>
      </p:grpSp>
      <p:sp>
        <p:nvSpPr>
          <p:cNvPr id="88" name="Google Shape;88;p1"/>
          <p:cNvSpPr/>
          <p:nvPr/>
        </p:nvSpPr>
        <p:spPr>
          <a:xfrm>
            <a:off x="8305800" y="531863"/>
            <a:ext cx="5562505" cy="7038880"/>
          </a:xfrm>
          <a:custGeom>
            <a:rect b="b" l="l" r="r" t="t"/>
            <a:pathLst>
              <a:path extrusionOk="0" h="9385173" w="7416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9232900"/>
                </a:lnTo>
                <a:cubicBezTo>
                  <a:pt x="0" y="9253093"/>
                  <a:pt x="3810" y="9272524"/>
                  <a:pt x="11557" y="9291193"/>
                </a:cubicBezTo>
                <a:cubicBezTo>
                  <a:pt x="19304" y="9309862"/>
                  <a:pt x="30353" y="9326372"/>
                  <a:pt x="44577" y="9340596"/>
                </a:cubicBezTo>
                <a:cubicBezTo>
                  <a:pt x="58801" y="9354820"/>
                  <a:pt x="75311" y="9365869"/>
                  <a:pt x="93980" y="9373616"/>
                </a:cubicBezTo>
                <a:cubicBezTo>
                  <a:pt x="112649" y="9381363"/>
                  <a:pt x="132080" y="9385173"/>
                  <a:pt x="152273" y="9385173"/>
                </a:cubicBezTo>
                <a:lnTo>
                  <a:pt x="7264400" y="9385173"/>
                </a:lnTo>
                <a:cubicBezTo>
                  <a:pt x="7284593" y="9385173"/>
                  <a:pt x="7304024" y="9381363"/>
                  <a:pt x="7322693" y="9373616"/>
                </a:cubicBezTo>
                <a:cubicBezTo>
                  <a:pt x="7341362" y="9365869"/>
                  <a:pt x="7357872" y="9354820"/>
                  <a:pt x="7372096" y="9340596"/>
                </a:cubicBezTo>
                <a:cubicBezTo>
                  <a:pt x="7386320" y="9326372"/>
                  <a:pt x="7397369" y="9309862"/>
                  <a:pt x="7405116" y="9291193"/>
                </a:cubicBezTo>
                <a:cubicBezTo>
                  <a:pt x="7412863" y="9272524"/>
                  <a:pt x="7416673" y="9253093"/>
                  <a:pt x="7416673" y="9232900"/>
                </a:cubicBezTo>
                <a:lnTo>
                  <a:pt x="7416673" y="152400"/>
                </a:lnTo>
                <a:cubicBezTo>
                  <a:pt x="7416673" y="132207"/>
                  <a:pt x="7412863" y="112776"/>
                  <a:pt x="7405116" y="94107"/>
                </a:cubicBezTo>
                <a:cubicBezTo>
                  <a:pt x="7397369" y="75438"/>
                  <a:pt x="7386320" y="58928"/>
                  <a:pt x="7372096" y="44704"/>
                </a:cubicBezTo>
                <a:cubicBezTo>
                  <a:pt x="7357872" y="30480"/>
                  <a:pt x="7341362" y="19431"/>
                  <a:pt x="7322693" y="11684"/>
                </a:cubicBezTo>
                <a:cubicBezTo>
                  <a:pt x="7304024" y="3937"/>
                  <a:pt x="7284593" y="0"/>
                  <a:pt x="7264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3" l="0" r="-1" t="-81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33400" y="2295677"/>
            <a:ext cx="3956780" cy="3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9494"/>
                </a:solidFill>
                <a:latin typeface="IBM Plex Sans"/>
                <a:ea typeface="IBM Plex Sans"/>
                <a:cs typeface="IBM Plex Sans"/>
                <a:sym typeface="IBM Plex Sans"/>
              </a:rPr>
              <a:t>B.Tech CSE · Manipal University Jaipur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33400" y="2972105"/>
            <a:ext cx="6428374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Adaptive driver drowsiness detection using personalized baseline modeling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32774" y="7089775"/>
            <a:ext cx="240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949494"/>
                </a:solidFill>
                <a:latin typeface="IBM Plex Sans"/>
                <a:ea typeface="IBM Plex Sans"/>
                <a:cs typeface="IBM Plex Sans"/>
                <a:sym typeface="IBM Plex Sans"/>
              </a:rPr>
              <a:t>Nishtha Pandey</a:t>
            </a:r>
            <a:endParaRPr b="1" sz="1800"/>
          </a:p>
        </p:txBody>
      </p:sp>
      <p:sp>
        <p:nvSpPr>
          <p:cNvPr id="92" name="Google Shape;92;p1"/>
          <p:cNvSpPr txBox="1"/>
          <p:nvPr/>
        </p:nvSpPr>
        <p:spPr>
          <a:xfrm>
            <a:off x="533400" y="6269165"/>
            <a:ext cx="653242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9494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real-time, explainable, and deployment-aware driver monitoring framework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-953"/>
            <a:ext cx="14401800" cy="8107680"/>
          </a:xfrm>
          <a:custGeom>
            <a:rect b="b" l="l" r="r" t="t"/>
            <a:pathLst>
              <a:path extrusionOk="0" h="8107680" w="14401800">
                <a:moveTo>
                  <a:pt x="0" y="0"/>
                </a:moveTo>
                <a:lnTo>
                  <a:pt x="14401800" y="0"/>
                </a:lnTo>
                <a:lnTo>
                  <a:pt x="14401800" y="8107681"/>
                </a:lnTo>
                <a:lnTo>
                  <a:pt x="0" y="81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533400" y="525600"/>
            <a:ext cx="292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context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33400" y="898925"/>
            <a:ext cx="1242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Driver drowsiness is a major safety risk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38200" y="2968825"/>
            <a:ext cx="426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Fatigue impairs driving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677000" y="331038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363885" y="2949778"/>
            <a:ext cx="3623348" cy="162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41414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Vision-based monitoring</a:t>
            </a:r>
            <a:endParaRPr/>
          </a:p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Camera-based detection is non-invasive and cost-effective, requiring no physical contact with the driver. It captures natural behavioral cues like eye closure and yawning in real time.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915525" y="2968825"/>
            <a:ext cx="426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Static thresholds fall short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361419" y="331038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38200" y="3415160"/>
            <a:ext cx="3597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6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Fatigue reduces reaction time, focus, and decision quality</a:t>
            </a:r>
            <a:endParaRPr/>
          </a:p>
          <a:p>
            <a:pPr indent="0" lvl="0" marL="0" marR="0" rtl="0" algn="l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60" u="none" cap="none" strike="noStrike">
              <a:solidFill>
                <a:srgbClr val="05050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915525" y="3415160"/>
            <a:ext cx="3047248" cy="22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Mostlow-cost systems apply ﬁxed 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9915525" y="3653285"/>
            <a:ext cx="3545776" cy="1180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 rules to every driver. Individual differences in eye shape, blinking habits, and baseline behavior mean these thresholds miss real fatigue or raise false alarms.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-953"/>
            <a:ext cx="14401800" cy="8107680"/>
          </a:xfrm>
          <a:custGeom>
            <a:rect b="b" l="l" r="r" t="t"/>
            <a:pathLst>
              <a:path extrusionOk="0" h="8107680" w="14401800">
                <a:moveTo>
                  <a:pt x="0" y="0"/>
                </a:moveTo>
                <a:lnTo>
                  <a:pt x="14401800" y="0"/>
                </a:lnTo>
                <a:lnTo>
                  <a:pt x="14401800" y="8107681"/>
                </a:lnTo>
                <a:lnTo>
                  <a:pt x="0" y="81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/>
          <p:nvPr/>
        </p:nvSpPr>
        <p:spPr>
          <a:xfrm>
            <a:off x="0" y="93985"/>
            <a:ext cx="14401800" cy="8012743"/>
          </a:xfrm>
          <a:custGeom>
            <a:rect b="b" l="l" r="r" t="t"/>
            <a:pathLst>
              <a:path extrusionOk="0" h="10683657" w="19202400">
                <a:moveTo>
                  <a:pt x="0" y="0"/>
                </a:moveTo>
                <a:lnTo>
                  <a:pt x="19202400" y="0"/>
                </a:lnTo>
                <a:lnTo>
                  <a:pt x="19202400" y="10683657"/>
                </a:lnTo>
                <a:lnTo>
                  <a:pt x="0" y="10683657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</p:sp>
      <p:sp>
        <p:nvSpPr>
          <p:cNvPr id="126" name="Google Shape;126;p3"/>
          <p:cNvSpPr txBox="1"/>
          <p:nvPr/>
        </p:nvSpPr>
        <p:spPr>
          <a:xfrm>
            <a:off x="382851" y="583575"/>
            <a:ext cx="450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existing systems get wrong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232293" y="2274972"/>
            <a:ext cx="431358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One-size-ﬁts-all thresholding is scientiﬁcally weak for human fatigue detection.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6000750" y="816178"/>
            <a:ext cx="3240043" cy="1177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Blink rate varies</a:t>
            </a:r>
            <a:endParaRPr/>
          </a:p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Human blink frequency differs signiﬁcantly between individuals - no single baseline applies universally.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000750" y="4426150"/>
            <a:ext cx="41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Fatigue looks different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567783" y="4767710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0182225" y="835225"/>
            <a:ext cx="38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Eye openness differs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2451109" y="117678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182225" y="4426150"/>
            <a:ext cx="441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Fixed EAR thresholds fail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1564988" y="4767710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000750" y="4872485"/>
            <a:ext cx="2879503" cy="94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Mouthmovementand fatigue expression vary widely - yawning patterns alone cannot be read uniformly.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10182225" y="4872485"/>
            <a:ext cx="2914879" cy="22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Rigid thresholdscause both false 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0182225" y="5110610"/>
            <a:ext cx="339655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positives and false negatives - ﬂagging alert drivers or missing genuinely drowsy ones.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0182225" y="1281560"/>
            <a:ext cx="3383804" cy="22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Natural eye aperture variesby person - 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0182225" y="1519685"/>
            <a:ext cx="3405816" cy="46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anatomy alone changes what an "open" or "drowsy" eye looks like.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0" y="-953"/>
            <a:ext cx="14401800" cy="8107680"/>
          </a:xfrm>
          <a:custGeom>
            <a:rect b="b" l="l" r="r" t="t"/>
            <a:pathLst>
              <a:path extrusionOk="0" h="8107680" w="14401800">
                <a:moveTo>
                  <a:pt x="0" y="0"/>
                </a:moveTo>
                <a:lnTo>
                  <a:pt x="14401800" y="0"/>
                </a:lnTo>
                <a:lnTo>
                  <a:pt x="14401800" y="8107681"/>
                </a:lnTo>
                <a:lnTo>
                  <a:pt x="0" y="81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4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</p:sp>
      <p:sp>
        <p:nvSpPr>
          <p:cNvPr id="151" name="Google Shape;151;p4"/>
          <p:cNvSpPr txBox="1"/>
          <p:nvPr/>
        </p:nvSpPr>
        <p:spPr>
          <a:xfrm>
            <a:off x="533400" y="525590"/>
            <a:ext cx="11787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Research gap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533400" y="898925"/>
            <a:ext cx="953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gap in current research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838200" y="2492575"/>
            <a:ext cx="40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Isolated thresholds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1284094" y="283413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5448300" y="2492575"/>
            <a:ext cx="391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personalization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5812784" y="283413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9915525" y="2492575"/>
            <a:ext cx="47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Deployment gap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10537031" y="283413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838200" y="2938910"/>
            <a:ext cx="3650980" cy="1180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Mostsystemsdetectfatigue using ﬁxed, one-size-ﬁts-all thresholds. They measure signals in isolation without accounting for how each driver naturally behaves when alert.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448300" y="2938910"/>
            <a:ext cx="3228813" cy="1180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Fewpracticalsystemsbuilda driver- speciﬁc baseline before making decisions. Without a personal proﬁle, detection is reactive rather than individualized.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9915525" y="2938900"/>
            <a:ext cx="4095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Hosteddemos exist, butreal-time edge-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9915525" y="3177035"/>
            <a:ext cx="373492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like execution is rarely addressed. Practical deployment with explainability built in remains largely absent from existing work.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5"/>
          <p:cNvGrpSpPr/>
          <p:nvPr/>
        </p:nvGrpSpPr>
        <p:grpSpPr>
          <a:xfrm>
            <a:off x="-3" y="182961"/>
            <a:ext cx="14401797" cy="8096247"/>
            <a:chOff x="63500" y="63500"/>
            <a:chExt cx="14401800" cy="8096250"/>
          </a:xfrm>
        </p:grpSpPr>
        <p:sp>
          <p:nvSpPr>
            <p:cNvPr id="168" name="Google Shape;168;p5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169" name="Google Shape;169;p5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0" name="Google Shape;170;p5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</p:grpSp>
      <p:sp>
        <p:nvSpPr>
          <p:cNvPr id="171" name="Google Shape;171;p5"/>
          <p:cNvSpPr/>
          <p:nvPr/>
        </p:nvSpPr>
        <p:spPr>
          <a:xfrm>
            <a:off x="5197149" y="3850084"/>
            <a:ext cx="323755" cy="1095280"/>
          </a:xfrm>
          <a:custGeom>
            <a:rect b="b" l="l" r="r" t="t"/>
            <a:pathLst>
              <a:path extrusionOk="0" h="1460373" w="431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1308100"/>
                </a:lnTo>
                <a:cubicBezTo>
                  <a:pt x="0" y="1328293"/>
                  <a:pt x="3810" y="1347724"/>
                  <a:pt x="11557" y="1366393"/>
                </a:cubicBezTo>
                <a:cubicBezTo>
                  <a:pt x="19304" y="1385062"/>
                  <a:pt x="30353" y="1401572"/>
                  <a:pt x="44577" y="1415796"/>
                </a:cubicBezTo>
                <a:cubicBezTo>
                  <a:pt x="58801" y="1430020"/>
                  <a:pt x="75311" y="1441069"/>
                  <a:pt x="93980" y="1448816"/>
                </a:cubicBezTo>
                <a:cubicBezTo>
                  <a:pt x="112649" y="1456563"/>
                  <a:pt x="132080" y="1460373"/>
                  <a:pt x="152273" y="1460373"/>
                </a:cubicBezTo>
                <a:lnTo>
                  <a:pt x="279400" y="1460373"/>
                </a:lnTo>
                <a:cubicBezTo>
                  <a:pt x="299593" y="1460373"/>
                  <a:pt x="319024" y="1456563"/>
                  <a:pt x="337693" y="1448816"/>
                </a:cubicBezTo>
                <a:cubicBezTo>
                  <a:pt x="356362" y="1441069"/>
                  <a:pt x="372872" y="1430020"/>
                  <a:pt x="387096" y="1415796"/>
                </a:cubicBezTo>
                <a:cubicBezTo>
                  <a:pt x="401320" y="1401572"/>
                  <a:pt x="412369" y="1385062"/>
                  <a:pt x="420116" y="1366393"/>
                </a:cubicBezTo>
                <a:cubicBezTo>
                  <a:pt x="427863" y="1347724"/>
                  <a:pt x="431673" y="1328293"/>
                  <a:pt x="431673" y="1308100"/>
                </a:cubicBezTo>
                <a:lnTo>
                  <a:pt x="431673" y="152400"/>
                </a:lnTo>
                <a:cubicBezTo>
                  <a:pt x="431673" y="132207"/>
                  <a:pt x="427863" y="112776"/>
                  <a:pt x="420116" y="94107"/>
                </a:cubicBezTo>
                <a:cubicBezTo>
                  <a:pt x="412369" y="75438"/>
                  <a:pt x="401320" y="58928"/>
                  <a:pt x="387096" y="44704"/>
                </a:cubicBezTo>
                <a:cubicBezTo>
                  <a:pt x="372872" y="30480"/>
                  <a:pt x="356362" y="19431"/>
                  <a:pt x="337693" y="11684"/>
                </a:cubicBezTo>
                <a:cubicBezTo>
                  <a:pt x="319024" y="3937"/>
                  <a:pt x="299593" y="0"/>
                  <a:pt x="279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" l="0" r="-29" t="-10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693584" y="3850084"/>
            <a:ext cx="323755" cy="1095280"/>
          </a:xfrm>
          <a:custGeom>
            <a:rect b="b" l="l" r="r" t="t"/>
            <a:pathLst>
              <a:path extrusionOk="0" h="1460373" w="431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1308100"/>
                </a:lnTo>
                <a:cubicBezTo>
                  <a:pt x="0" y="1328293"/>
                  <a:pt x="3810" y="1347724"/>
                  <a:pt x="11557" y="1366393"/>
                </a:cubicBezTo>
                <a:cubicBezTo>
                  <a:pt x="19304" y="1385062"/>
                  <a:pt x="30353" y="1401572"/>
                  <a:pt x="44577" y="1415796"/>
                </a:cubicBezTo>
                <a:cubicBezTo>
                  <a:pt x="58801" y="1430020"/>
                  <a:pt x="75311" y="1441069"/>
                  <a:pt x="93980" y="1448816"/>
                </a:cubicBezTo>
                <a:cubicBezTo>
                  <a:pt x="112649" y="1456563"/>
                  <a:pt x="132080" y="1460373"/>
                  <a:pt x="152273" y="1460373"/>
                </a:cubicBezTo>
                <a:lnTo>
                  <a:pt x="279400" y="1460373"/>
                </a:lnTo>
                <a:cubicBezTo>
                  <a:pt x="299593" y="1460373"/>
                  <a:pt x="319024" y="1456563"/>
                  <a:pt x="337693" y="1448816"/>
                </a:cubicBezTo>
                <a:cubicBezTo>
                  <a:pt x="356362" y="1441069"/>
                  <a:pt x="372872" y="1430020"/>
                  <a:pt x="387096" y="1415796"/>
                </a:cubicBezTo>
                <a:cubicBezTo>
                  <a:pt x="401320" y="1401572"/>
                  <a:pt x="412369" y="1385062"/>
                  <a:pt x="420116" y="1366393"/>
                </a:cubicBezTo>
                <a:cubicBezTo>
                  <a:pt x="427863" y="1347724"/>
                  <a:pt x="431673" y="1328293"/>
                  <a:pt x="431673" y="1308100"/>
                </a:cubicBezTo>
                <a:lnTo>
                  <a:pt x="431673" y="152400"/>
                </a:lnTo>
                <a:cubicBezTo>
                  <a:pt x="431673" y="132207"/>
                  <a:pt x="427863" y="112776"/>
                  <a:pt x="420116" y="94107"/>
                </a:cubicBezTo>
                <a:cubicBezTo>
                  <a:pt x="412369" y="75438"/>
                  <a:pt x="401320" y="58928"/>
                  <a:pt x="387096" y="44704"/>
                </a:cubicBezTo>
                <a:cubicBezTo>
                  <a:pt x="372872" y="30480"/>
                  <a:pt x="356362" y="19431"/>
                  <a:pt x="337693" y="11684"/>
                </a:cubicBezTo>
                <a:cubicBezTo>
                  <a:pt x="319024" y="3937"/>
                  <a:pt x="299593" y="0"/>
                  <a:pt x="279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" l="0" r="-29" t="-10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2016373" y="3950097"/>
            <a:ext cx="2851404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Learns each driver's normal EAR, MAR, and head pose as a 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2618600" y="4397775"/>
            <a:ext cx="214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 baseline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5850372" y="3950097"/>
            <a:ext cx="250983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Flags drowsiness through deviation from that individual 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6597326" y="4397775"/>
            <a:ext cx="106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baseline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9350809" y="3954859"/>
            <a:ext cx="23924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Delivers explainable fatigue 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9411550" y="4178697"/>
            <a:ext cx="22710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scores and real-time alerts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4990945" y="275450"/>
            <a:ext cx="4761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7" u="none" cap="none" strike="noStrike">
                <a:solidFill>
                  <a:srgbClr val="57575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2618600" y="522325"/>
            <a:ext cx="1015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 should be 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4765624" y="2535900"/>
            <a:ext cx="514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-953"/>
            <a:ext cx="14401800" cy="8107680"/>
          </a:xfrm>
          <a:custGeom>
            <a:rect b="b" l="l" r="r" t="t"/>
            <a:pathLst>
              <a:path extrusionOk="0" h="8107680" w="14401800">
                <a:moveTo>
                  <a:pt x="0" y="0"/>
                </a:moveTo>
                <a:lnTo>
                  <a:pt x="14401800" y="0"/>
                </a:lnTo>
                <a:lnTo>
                  <a:pt x="14401800" y="8107681"/>
                </a:lnTo>
                <a:lnTo>
                  <a:pt x="0" y="81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6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6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6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6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6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6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6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6"/>
          <p:cNvSpPr/>
          <p:nvPr/>
        </p:nvSpPr>
        <p:spPr>
          <a:xfrm>
            <a:off x="0" y="2350057"/>
            <a:ext cx="14401800" cy="5388339"/>
          </a:xfrm>
          <a:custGeom>
            <a:rect b="b" l="l" r="r" t="t"/>
            <a:pathLst>
              <a:path extrusionOk="0" h="7184452" w="19202400">
                <a:moveTo>
                  <a:pt x="0" y="0"/>
                </a:moveTo>
                <a:lnTo>
                  <a:pt x="19202400" y="0"/>
                </a:lnTo>
                <a:lnTo>
                  <a:pt x="19202400" y="7184452"/>
                </a:lnTo>
                <a:lnTo>
                  <a:pt x="0" y="7184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23378" l="0" r="0" t="-23378"/>
            </a:stretch>
          </a:blipFill>
          <a:ln>
            <a:noFill/>
          </a:ln>
        </p:spPr>
      </p:sp>
      <p:sp>
        <p:nvSpPr>
          <p:cNvPr id="196" name="Google Shape;196;p6"/>
          <p:cNvSpPr txBox="1"/>
          <p:nvPr/>
        </p:nvSpPr>
        <p:spPr>
          <a:xfrm>
            <a:off x="425597" y="494575"/>
            <a:ext cx="9717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objectives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system is built to do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2987878" y="5945315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2681440" y="3573589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6273851" y="3573589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10143382" y="3573589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907934" y="5945315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0" y="0"/>
            <a:ext cx="14528797" cy="8223247"/>
          </a:xfrm>
          <a:custGeom>
            <a:rect b="b" l="l" r="r" t="t"/>
            <a:pathLst>
              <a:path extrusionOk="0" h="8223247" w="14528797">
                <a:moveTo>
                  <a:pt x="0" y="0"/>
                </a:moveTo>
                <a:lnTo>
                  <a:pt x="14528797" y="0"/>
                </a:lnTo>
                <a:lnTo>
                  <a:pt x="14528797" y="8223247"/>
                </a:lnTo>
                <a:lnTo>
                  <a:pt x="0" y="82232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7"/>
          <p:cNvSpPr/>
          <p:nvPr/>
        </p:nvSpPr>
        <p:spPr>
          <a:xfrm>
            <a:off x="533400" y="1090786"/>
            <a:ext cx="12221775" cy="7068958"/>
          </a:xfrm>
          <a:custGeom>
            <a:rect b="b" l="l" r="r" t="t"/>
            <a:pathLst>
              <a:path extrusionOk="0" h="7068958" w="12221775">
                <a:moveTo>
                  <a:pt x="0" y="0"/>
                </a:moveTo>
                <a:lnTo>
                  <a:pt x="12221775" y="0"/>
                </a:lnTo>
                <a:lnTo>
                  <a:pt x="12221775" y="7068958"/>
                </a:lnTo>
                <a:lnTo>
                  <a:pt x="0" y="7068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598" l="0" r="0" t="-29260"/>
            </a:stretch>
          </a:blipFill>
          <a:ln>
            <a:noFill/>
          </a:ln>
        </p:spPr>
      </p:sp>
      <p:sp>
        <p:nvSpPr>
          <p:cNvPr id="208" name="Google Shape;208;p7"/>
          <p:cNvSpPr txBox="1"/>
          <p:nvPr/>
        </p:nvSpPr>
        <p:spPr>
          <a:xfrm>
            <a:off x="122799" y="114850"/>
            <a:ext cx="48111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6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Baseline modeling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8"/>
          <p:cNvGrpSpPr/>
          <p:nvPr/>
        </p:nvGrpSpPr>
        <p:grpSpPr>
          <a:xfrm>
            <a:off x="-3" y="-3"/>
            <a:ext cx="14401797" cy="8096247"/>
            <a:chOff x="63500" y="63500"/>
            <a:chExt cx="14401800" cy="8096250"/>
          </a:xfrm>
        </p:grpSpPr>
        <p:sp>
          <p:nvSpPr>
            <p:cNvPr id="214" name="Google Shape;214;p8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15" name="Google Shape;215;p8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6" name="Google Shape;216;p8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17" name="Google Shape;217;p8"/>
          <p:cNvSpPr/>
          <p:nvPr/>
        </p:nvSpPr>
        <p:spPr>
          <a:xfrm>
            <a:off x="66817" y="2695575"/>
            <a:ext cx="5363348" cy="3686080"/>
          </a:xfrm>
          <a:custGeom>
            <a:rect b="b" l="l" r="r" t="t"/>
            <a:pathLst>
              <a:path extrusionOk="0" h="4914773" w="7151130">
                <a:moveTo>
                  <a:pt x="200036" y="0"/>
                </a:moveTo>
                <a:cubicBezTo>
                  <a:pt x="173531" y="0"/>
                  <a:pt x="148027" y="3810"/>
                  <a:pt x="123522" y="11557"/>
                </a:cubicBezTo>
                <a:cubicBezTo>
                  <a:pt x="99018" y="19304"/>
                  <a:pt x="77347" y="30353"/>
                  <a:pt x="58511" y="44577"/>
                </a:cubicBezTo>
                <a:cubicBezTo>
                  <a:pt x="39674" y="58801"/>
                  <a:pt x="25338" y="75438"/>
                  <a:pt x="15169" y="94107"/>
                </a:cubicBezTo>
                <a:cubicBezTo>
                  <a:pt x="5001" y="112776"/>
                  <a:pt x="0" y="132207"/>
                  <a:pt x="0" y="152400"/>
                </a:cubicBezTo>
                <a:lnTo>
                  <a:pt x="0" y="4762500"/>
                </a:lnTo>
                <a:cubicBezTo>
                  <a:pt x="0" y="4782693"/>
                  <a:pt x="5001" y="4802124"/>
                  <a:pt x="15169" y="4820793"/>
                </a:cubicBezTo>
                <a:cubicBezTo>
                  <a:pt x="25338" y="4839462"/>
                  <a:pt x="39841" y="4855972"/>
                  <a:pt x="58511" y="4870196"/>
                </a:cubicBezTo>
                <a:cubicBezTo>
                  <a:pt x="77181" y="4884420"/>
                  <a:pt x="98851" y="4895469"/>
                  <a:pt x="123356" y="4903216"/>
                </a:cubicBezTo>
                <a:cubicBezTo>
                  <a:pt x="147860" y="4910963"/>
                  <a:pt x="173365" y="4914773"/>
                  <a:pt x="199870" y="4914773"/>
                </a:cubicBezTo>
                <a:lnTo>
                  <a:pt x="6951261" y="4914773"/>
                </a:lnTo>
                <a:cubicBezTo>
                  <a:pt x="6977766" y="4914773"/>
                  <a:pt x="7003270" y="4910963"/>
                  <a:pt x="7027775" y="4903216"/>
                </a:cubicBezTo>
                <a:cubicBezTo>
                  <a:pt x="7052279" y="4895469"/>
                  <a:pt x="7073950" y="4884420"/>
                  <a:pt x="7092620" y="4870196"/>
                </a:cubicBezTo>
                <a:cubicBezTo>
                  <a:pt x="7111290" y="4855972"/>
                  <a:pt x="7125792" y="4839462"/>
                  <a:pt x="7135961" y="4820793"/>
                </a:cubicBezTo>
                <a:cubicBezTo>
                  <a:pt x="7146130" y="4802124"/>
                  <a:pt x="7151130" y="4782693"/>
                  <a:pt x="7151130" y="4762500"/>
                </a:cubicBezTo>
                <a:lnTo>
                  <a:pt x="7151130" y="152400"/>
                </a:lnTo>
                <a:cubicBezTo>
                  <a:pt x="7151130" y="132207"/>
                  <a:pt x="7146130" y="112776"/>
                  <a:pt x="7135961" y="94107"/>
                </a:cubicBezTo>
                <a:cubicBezTo>
                  <a:pt x="7125792" y="75438"/>
                  <a:pt x="7111290" y="58928"/>
                  <a:pt x="7092620" y="44704"/>
                </a:cubicBezTo>
                <a:cubicBezTo>
                  <a:pt x="7073950" y="30480"/>
                  <a:pt x="7052279" y="19431"/>
                  <a:pt x="7027775" y="11684"/>
                </a:cubicBezTo>
                <a:cubicBezTo>
                  <a:pt x="7003270" y="3937"/>
                  <a:pt x="6977766" y="0"/>
                  <a:pt x="695126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1777" r="-1177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563120" y="2314118"/>
            <a:ext cx="4086130" cy="5069341"/>
          </a:xfrm>
          <a:custGeom>
            <a:rect b="b" l="l" r="r" t="t"/>
            <a:pathLst>
              <a:path extrusionOk="0" h="6759121" w="5448173">
                <a:moveTo>
                  <a:pt x="152400" y="0"/>
                </a:moveTo>
                <a:cubicBezTo>
                  <a:pt x="132207" y="0"/>
                  <a:pt x="112776" y="5240"/>
                  <a:pt x="94107" y="15894"/>
                </a:cubicBezTo>
                <a:cubicBezTo>
                  <a:pt x="75438" y="26548"/>
                  <a:pt x="58928" y="41743"/>
                  <a:pt x="44577" y="61305"/>
                </a:cubicBezTo>
                <a:cubicBezTo>
                  <a:pt x="30226" y="80867"/>
                  <a:pt x="19304" y="103747"/>
                  <a:pt x="11557" y="129422"/>
                </a:cubicBezTo>
                <a:cubicBezTo>
                  <a:pt x="3810" y="155097"/>
                  <a:pt x="0" y="181820"/>
                  <a:pt x="0" y="209591"/>
                </a:cubicBezTo>
                <a:lnTo>
                  <a:pt x="0" y="6549705"/>
                </a:lnTo>
                <a:cubicBezTo>
                  <a:pt x="0" y="6577476"/>
                  <a:pt x="3810" y="6604198"/>
                  <a:pt x="11557" y="6629874"/>
                </a:cubicBezTo>
                <a:cubicBezTo>
                  <a:pt x="19304" y="6655548"/>
                  <a:pt x="30353" y="6678254"/>
                  <a:pt x="44577" y="6697816"/>
                </a:cubicBezTo>
                <a:cubicBezTo>
                  <a:pt x="58801" y="6717378"/>
                  <a:pt x="75311" y="6732573"/>
                  <a:pt x="93980" y="6743226"/>
                </a:cubicBezTo>
                <a:cubicBezTo>
                  <a:pt x="112649" y="6753882"/>
                  <a:pt x="132080" y="6759121"/>
                  <a:pt x="152273" y="6759121"/>
                </a:cubicBezTo>
                <a:lnTo>
                  <a:pt x="5295900" y="6759121"/>
                </a:lnTo>
                <a:cubicBezTo>
                  <a:pt x="5316093" y="6759121"/>
                  <a:pt x="5335524" y="6753882"/>
                  <a:pt x="5354193" y="6743226"/>
                </a:cubicBezTo>
                <a:cubicBezTo>
                  <a:pt x="5372862" y="6732573"/>
                  <a:pt x="5389372" y="6717378"/>
                  <a:pt x="5403596" y="6697816"/>
                </a:cubicBezTo>
                <a:cubicBezTo>
                  <a:pt x="5417820" y="6678254"/>
                  <a:pt x="5428869" y="6655548"/>
                  <a:pt x="5436616" y="6629874"/>
                </a:cubicBezTo>
                <a:cubicBezTo>
                  <a:pt x="5444363" y="6604198"/>
                  <a:pt x="5448173" y="6577476"/>
                  <a:pt x="5448173" y="6549705"/>
                </a:cubicBezTo>
                <a:lnTo>
                  <a:pt x="5448173" y="209591"/>
                </a:lnTo>
                <a:cubicBezTo>
                  <a:pt x="5448173" y="181820"/>
                  <a:pt x="5444363" y="155097"/>
                  <a:pt x="5436616" y="129422"/>
                </a:cubicBezTo>
                <a:cubicBezTo>
                  <a:pt x="5428869" y="103747"/>
                  <a:pt x="5417820" y="81042"/>
                  <a:pt x="5403596" y="61480"/>
                </a:cubicBezTo>
                <a:cubicBezTo>
                  <a:pt x="5389372" y="41918"/>
                  <a:pt x="5372862" y="26723"/>
                  <a:pt x="5354193" y="16069"/>
                </a:cubicBezTo>
                <a:cubicBezTo>
                  <a:pt x="5335524" y="5414"/>
                  <a:pt x="5316093" y="0"/>
                  <a:pt x="52959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223" l="0" r="0" t="-322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9782175" y="2695575"/>
            <a:ext cx="4086130" cy="3686080"/>
          </a:xfrm>
          <a:custGeom>
            <a:rect b="b" l="l" r="r" t="t"/>
            <a:pathLst>
              <a:path extrusionOk="0" h="4914773" w="54481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4762500"/>
                </a:lnTo>
                <a:cubicBezTo>
                  <a:pt x="0" y="4782693"/>
                  <a:pt x="3810" y="4802124"/>
                  <a:pt x="11557" y="4820793"/>
                </a:cubicBezTo>
                <a:cubicBezTo>
                  <a:pt x="19304" y="4839462"/>
                  <a:pt x="30353" y="4855972"/>
                  <a:pt x="44577" y="4870196"/>
                </a:cubicBezTo>
                <a:cubicBezTo>
                  <a:pt x="58801" y="4884420"/>
                  <a:pt x="75311" y="4895469"/>
                  <a:pt x="93980" y="4903216"/>
                </a:cubicBezTo>
                <a:cubicBezTo>
                  <a:pt x="112649" y="4910963"/>
                  <a:pt x="132080" y="4914773"/>
                  <a:pt x="152273" y="4914773"/>
                </a:cubicBezTo>
                <a:lnTo>
                  <a:pt x="5295900" y="4914773"/>
                </a:lnTo>
                <a:cubicBezTo>
                  <a:pt x="5316093" y="4914773"/>
                  <a:pt x="5335524" y="4910963"/>
                  <a:pt x="5354193" y="4903216"/>
                </a:cubicBezTo>
                <a:cubicBezTo>
                  <a:pt x="5372862" y="4895469"/>
                  <a:pt x="5389372" y="4884420"/>
                  <a:pt x="5403596" y="4870196"/>
                </a:cubicBezTo>
                <a:cubicBezTo>
                  <a:pt x="5417820" y="4855972"/>
                  <a:pt x="5428869" y="4839462"/>
                  <a:pt x="5436616" y="4820793"/>
                </a:cubicBezTo>
                <a:cubicBezTo>
                  <a:pt x="5444363" y="4802124"/>
                  <a:pt x="5448173" y="4782693"/>
                  <a:pt x="5448173" y="4762500"/>
                </a:cubicBezTo>
                <a:lnTo>
                  <a:pt x="5448173" y="152400"/>
                </a:lnTo>
                <a:cubicBezTo>
                  <a:pt x="5448173" y="132207"/>
                  <a:pt x="5444363" y="112776"/>
                  <a:pt x="5436616" y="94107"/>
                </a:cubicBezTo>
                <a:cubicBezTo>
                  <a:pt x="5428869" y="75438"/>
                  <a:pt x="5417820" y="58928"/>
                  <a:pt x="5403596" y="44704"/>
                </a:cubicBezTo>
                <a:cubicBezTo>
                  <a:pt x="5389372" y="30480"/>
                  <a:pt x="5372862" y="19431"/>
                  <a:pt x="5354193" y="11684"/>
                </a:cubicBezTo>
                <a:cubicBezTo>
                  <a:pt x="5335524" y="3937"/>
                  <a:pt x="5316093" y="0"/>
                  <a:pt x="52959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950" l="0" r="0" t="-1995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533400" y="419550"/>
            <a:ext cx="644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 features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533400" y="2113140"/>
            <a:ext cx="282624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EAR - Eye Aspect Ratio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5773992" y="1959788"/>
            <a:ext cx="32137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 - Mouth Aspect Ratio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9782175" y="2113140"/>
            <a:ext cx="268307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Head pose estimation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533400" y="6707314"/>
            <a:ext cx="410166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Tracks eyelid separation over time to detect sustained closure, slow blinks, and drowsy blink patterns in real time.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5481033" y="7196221"/>
            <a:ext cx="4168311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Measures mouth opening width to identify sustained yawns - a reliable involuntary indicator of fatigue onset.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9782175" y="6707314"/>
            <a:ext cx="3973239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Captures yaw, pitch, and roll to ﬂag nodding, head drooping, and off-road gaze - orientation cues linked to fatigue.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-63503" y="-77972"/>
            <a:ext cx="14528797" cy="8223247"/>
          </a:xfrm>
          <a:custGeom>
            <a:rect b="b" l="l" r="r" t="t"/>
            <a:pathLst>
              <a:path extrusionOk="0" h="8223247" w="14528797">
                <a:moveTo>
                  <a:pt x="0" y="0"/>
                </a:moveTo>
                <a:lnTo>
                  <a:pt x="14528797" y="0"/>
                </a:lnTo>
                <a:lnTo>
                  <a:pt x="14528797" y="8223247"/>
                </a:lnTo>
                <a:lnTo>
                  <a:pt x="0" y="82232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9"/>
          <p:cNvSpPr/>
          <p:nvPr/>
        </p:nvSpPr>
        <p:spPr>
          <a:xfrm>
            <a:off x="6612141" y="1980645"/>
            <a:ext cx="6615270" cy="4951432"/>
          </a:xfrm>
          <a:custGeom>
            <a:rect b="b" l="l" r="r" t="t"/>
            <a:pathLst>
              <a:path extrusionOk="0" h="4951432" w="6615270">
                <a:moveTo>
                  <a:pt x="0" y="0"/>
                </a:moveTo>
                <a:lnTo>
                  <a:pt x="6615270" y="0"/>
                </a:lnTo>
                <a:lnTo>
                  <a:pt x="6615270" y="4951432"/>
                </a:lnTo>
                <a:lnTo>
                  <a:pt x="0" y="4951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449" l="0" r="0" t="0"/>
            </a:stretch>
          </a:blipFill>
          <a:ln>
            <a:noFill/>
          </a:ln>
        </p:spPr>
      </p:sp>
      <p:sp>
        <p:nvSpPr>
          <p:cNvPr id="233" name="Google Shape;233;p9"/>
          <p:cNvSpPr/>
          <p:nvPr/>
        </p:nvSpPr>
        <p:spPr>
          <a:xfrm>
            <a:off x="0" y="2664723"/>
            <a:ext cx="5516787" cy="3064470"/>
          </a:xfrm>
          <a:custGeom>
            <a:rect b="b" l="l" r="r" t="t"/>
            <a:pathLst>
              <a:path extrusionOk="0" h="3064470" w="5516787">
                <a:moveTo>
                  <a:pt x="0" y="0"/>
                </a:moveTo>
                <a:lnTo>
                  <a:pt x="5516787" y="0"/>
                </a:lnTo>
                <a:lnTo>
                  <a:pt x="5516787" y="3064469"/>
                </a:lnTo>
                <a:lnTo>
                  <a:pt x="0" y="3064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16865"/>
            </a:stretch>
          </a:blipFill>
          <a:ln>
            <a:noFill/>
          </a:ln>
        </p:spPr>
      </p:sp>
      <p:sp>
        <p:nvSpPr>
          <p:cNvPr id="234" name="Google Shape;234;p9"/>
          <p:cNvSpPr txBox="1"/>
          <p:nvPr/>
        </p:nvSpPr>
        <p:spPr>
          <a:xfrm>
            <a:off x="288474" y="6932077"/>
            <a:ext cx="436474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B8B8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signal is compared against the driver's personal baseline. Fatigue is ﬂagged when deviation scores exceed individual thresholds - not ﬁxed population norms.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504825" y="716100"/>
            <a:ext cx="5094600" cy="19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Deviation scoring</a:t>
            </a:r>
            <a:endParaRPr/>
          </a:p>
          <a:p>
            <a:pPr indent="0" lvl="0" marL="0" marR="0" rtl="0" algn="l">
              <a:lnSpc>
                <a:spcPct val="118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far from normal</a:t>
            </a:r>
            <a:endParaRPr/>
          </a:p>
          <a:p>
            <a:pPr indent="0" lvl="0" marL="0" marR="0" rtl="0" algn="l">
              <a:lnSpc>
                <a:spcPct val="83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is this driver right </a:t>
            </a:r>
            <a:endParaRPr/>
          </a:p>
          <a:p>
            <a:pPr indent="0" lvl="0" marL="0" marR="0" rtl="0" algn="l">
              <a:lnSpc>
                <a:spcPct val="116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now?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6457950" y="539953"/>
            <a:ext cx="6553771" cy="398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Six signals scored against your personal baseline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6612141" y="2221649"/>
            <a:ext cx="512969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EAR drop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6376692" y="3948208"/>
            <a:ext cx="753256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Blink duration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6628505" y="3085005"/>
            <a:ext cx="496348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 rise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6431013" y="6538112"/>
            <a:ext cx="697754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Yawn events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6147349" y="4811554"/>
            <a:ext cx="987171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Open-eye interval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6152998" y="5674757"/>
            <a:ext cx="981418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Head-pose devi…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7231561" y="7242219"/>
            <a:ext cx="73552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8327527" y="7242219"/>
            <a:ext cx="144647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9456239" y="7242219"/>
            <a:ext cx="148866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10588676" y="7242219"/>
            <a:ext cx="145847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11320758" y="4778216"/>
            <a:ext cx="137703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11546977" y="5641419"/>
            <a:ext cx="134522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74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11719617" y="7242219"/>
            <a:ext cx="145675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80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11773195" y="3051667"/>
            <a:ext cx="136455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78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12168930" y="3914870"/>
            <a:ext cx="141294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85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12338599" y="6504775"/>
            <a:ext cx="144256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88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12564818" y="2188312"/>
            <a:ext cx="143399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92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12826451" y="7242219"/>
            <a:ext cx="194520" cy="156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/>
          <p:nvPr/>
        </p:nvSpPr>
        <p:spPr>
          <a:xfrm>
            <a:off x="0" y="-953"/>
            <a:ext cx="14401800" cy="8107680"/>
          </a:xfrm>
          <a:custGeom>
            <a:rect b="b" l="l" r="r" t="t"/>
            <a:pathLst>
              <a:path extrusionOk="0" h="8107680" w="14401800">
                <a:moveTo>
                  <a:pt x="0" y="0"/>
                </a:moveTo>
                <a:lnTo>
                  <a:pt x="14401800" y="0"/>
                </a:lnTo>
                <a:lnTo>
                  <a:pt x="14401800" y="8107681"/>
                </a:lnTo>
                <a:lnTo>
                  <a:pt x="0" y="81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1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1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1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1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1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1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1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1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1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</p:sp>
      <p:sp>
        <p:nvSpPr>
          <p:cNvPr id="269" name="Google Shape;269;p11"/>
          <p:cNvSpPr txBox="1"/>
          <p:nvPr/>
        </p:nvSpPr>
        <p:spPr>
          <a:xfrm>
            <a:off x="1333500" y="1032281"/>
            <a:ext cx="9885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Technologies used for </a:t>
            </a:r>
            <a:r>
              <a:rPr b="0" i="0" lang="en-US" sz="4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Lightweight</a:t>
            </a:r>
            <a:r>
              <a:rPr lang="en-US" sz="4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</a:t>
            </a:r>
            <a:r>
              <a:rPr b="0" i="0" lang="en-US" sz="4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modern Implementation.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495425" y="3210075"/>
            <a:ext cx="177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2137172" y="3573589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1495425" y="5581802"/>
            <a:ext cx="2047942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NumPy + Matplotlib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2361009" y="5945315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5543550" y="5610377"/>
            <a:ext cx="3308642" cy="83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Gradio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web interface for live demo and rapid research prototyping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5534025" y="3210075"/>
            <a:ext cx="1570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OpenCV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6347965" y="3573589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9572625" y="3238652"/>
            <a:ext cx="3344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MediaPipe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Face landmarker model for precise eye and mouth landmark extraction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9572625" y="5581802"/>
            <a:ext cx="255090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 / GitHub / HF Spaces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10204399" y="5945315"/>
            <a:ext cx="460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1495425" y="3621214"/>
            <a:ext cx="295022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99" u="none" cap="none" strike="noStrike">
                <a:solidFill>
                  <a:srgbClr val="242424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Primarylanguage for all detection, calibration, and scoring logic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1495425" y="5992940"/>
            <a:ext cx="3204801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Numericalscoring computations and research reporting ﬁgures</a:t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5534025" y="3621214"/>
            <a:ext cx="336979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99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Real-timevideo capture, frame processing, and visual output rendering</a:t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9572625" y="5992940"/>
            <a:ext cx="33411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Versioncontrolandpublicdeployment </a:t>
            </a:r>
            <a:endParaRPr/>
          </a:p>
        </p:txBody>
      </p:sp>
      <p:sp>
        <p:nvSpPr>
          <p:cNvPr id="284" name="Google Shape;284;p11"/>
          <p:cNvSpPr txBox="1"/>
          <p:nvPr/>
        </p:nvSpPr>
        <p:spPr>
          <a:xfrm>
            <a:off x="9572625" y="6221540"/>
            <a:ext cx="217405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 Hugging Face Spaces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2"/>
          <p:cNvGrpSpPr/>
          <p:nvPr/>
        </p:nvGrpSpPr>
        <p:grpSpPr>
          <a:xfrm>
            <a:off x="-3" y="-3"/>
            <a:ext cx="14401797" cy="8096247"/>
            <a:chOff x="63500" y="63500"/>
            <a:chExt cx="14401800" cy="8096250"/>
          </a:xfrm>
        </p:grpSpPr>
        <p:sp>
          <p:nvSpPr>
            <p:cNvPr id="290" name="Google Shape;290;p12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291" name="Google Shape;291;p12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2" name="Google Shape;292;p12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93" name="Google Shape;293;p12"/>
          <p:cNvSpPr/>
          <p:nvPr/>
        </p:nvSpPr>
        <p:spPr>
          <a:xfrm>
            <a:off x="0" y="0"/>
            <a:ext cx="14401800" cy="8096250"/>
          </a:xfrm>
          <a:custGeom>
            <a:rect b="b" l="l" r="r" t="t"/>
            <a:pathLst>
              <a:path extrusionOk="0" h="10795000" w="19202400">
                <a:moveTo>
                  <a:pt x="0" y="0"/>
                </a:moveTo>
                <a:lnTo>
                  <a:pt x="19202400" y="0"/>
                </a:lnTo>
                <a:lnTo>
                  <a:pt x="19202400" y="10795000"/>
                </a:lnTo>
                <a:lnTo>
                  <a:pt x="0" y="1079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2"/>
          <p:cNvSpPr/>
          <p:nvPr/>
        </p:nvSpPr>
        <p:spPr>
          <a:xfrm>
            <a:off x="647700" y="2124075"/>
            <a:ext cx="5848255" cy="4238530"/>
          </a:xfrm>
          <a:custGeom>
            <a:rect b="b" l="l" r="r" t="t"/>
            <a:pathLst>
              <a:path extrusionOk="0" h="5651373" w="7797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5499100"/>
                </a:lnTo>
                <a:cubicBezTo>
                  <a:pt x="0" y="5519293"/>
                  <a:pt x="3810" y="5538724"/>
                  <a:pt x="11557" y="5557393"/>
                </a:cubicBezTo>
                <a:cubicBezTo>
                  <a:pt x="19304" y="5576062"/>
                  <a:pt x="30353" y="5592572"/>
                  <a:pt x="44577" y="5606796"/>
                </a:cubicBezTo>
                <a:cubicBezTo>
                  <a:pt x="58801" y="5621020"/>
                  <a:pt x="75311" y="5632069"/>
                  <a:pt x="93980" y="5639816"/>
                </a:cubicBezTo>
                <a:cubicBezTo>
                  <a:pt x="112649" y="5647563"/>
                  <a:pt x="132080" y="5651373"/>
                  <a:pt x="152273" y="5651373"/>
                </a:cubicBezTo>
                <a:lnTo>
                  <a:pt x="7645400" y="5651373"/>
                </a:lnTo>
                <a:cubicBezTo>
                  <a:pt x="7665593" y="5651373"/>
                  <a:pt x="7685024" y="5647563"/>
                  <a:pt x="7703693" y="5639816"/>
                </a:cubicBezTo>
                <a:cubicBezTo>
                  <a:pt x="7722362" y="5632069"/>
                  <a:pt x="7738872" y="5621020"/>
                  <a:pt x="7753096" y="5606796"/>
                </a:cubicBezTo>
                <a:cubicBezTo>
                  <a:pt x="7767320" y="5592572"/>
                  <a:pt x="7778369" y="5576062"/>
                  <a:pt x="7786116" y="5557393"/>
                </a:cubicBezTo>
                <a:cubicBezTo>
                  <a:pt x="7793863" y="5538724"/>
                  <a:pt x="7797673" y="5519293"/>
                  <a:pt x="7797673" y="5499100"/>
                </a:cubicBezTo>
                <a:lnTo>
                  <a:pt x="7797673" y="152400"/>
                </a:lnTo>
                <a:cubicBezTo>
                  <a:pt x="7797673" y="132207"/>
                  <a:pt x="7793863" y="112776"/>
                  <a:pt x="7786116" y="94107"/>
                </a:cubicBezTo>
                <a:cubicBezTo>
                  <a:pt x="7778369" y="75438"/>
                  <a:pt x="7767320" y="58928"/>
                  <a:pt x="7753096" y="44704"/>
                </a:cubicBezTo>
                <a:cubicBezTo>
                  <a:pt x="7738872" y="30480"/>
                  <a:pt x="7722362" y="19431"/>
                  <a:pt x="7703693" y="11684"/>
                </a:cubicBezTo>
                <a:cubicBezTo>
                  <a:pt x="7685024" y="3937"/>
                  <a:pt x="7665593" y="0"/>
                  <a:pt x="7645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828" r="-58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7829550" y="2124075"/>
            <a:ext cx="5848255" cy="4238530"/>
          </a:xfrm>
          <a:custGeom>
            <a:rect b="b" l="l" r="r" t="t"/>
            <a:pathLst>
              <a:path extrusionOk="0" h="5651373" w="7797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5499100"/>
                </a:lnTo>
                <a:cubicBezTo>
                  <a:pt x="0" y="5519293"/>
                  <a:pt x="3810" y="5538724"/>
                  <a:pt x="11557" y="5557393"/>
                </a:cubicBezTo>
                <a:cubicBezTo>
                  <a:pt x="19304" y="5576062"/>
                  <a:pt x="30353" y="5592572"/>
                  <a:pt x="44577" y="5606796"/>
                </a:cubicBezTo>
                <a:cubicBezTo>
                  <a:pt x="58801" y="5621020"/>
                  <a:pt x="75311" y="5632069"/>
                  <a:pt x="93980" y="5639816"/>
                </a:cubicBezTo>
                <a:cubicBezTo>
                  <a:pt x="112649" y="5647563"/>
                  <a:pt x="132080" y="5651373"/>
                  <a:pt x="152273" y="5651373"/>
                </a:cubicBezTo>
                <a:lnTo>
                  <a:pt x="7645400" y="5651373"/>
                </a:lnTo>
                <a:cubicBezTo>
                  <a:pt x="7665593" y="5651373"/>
                  <a:pt x="7685024" y="5647563"/>
                  <a:pt x="7703693" y="5639816"/>
                </a:cubicBezTo>
                <a:cubicBezTo>
                  <a:pt x="7722362" y="5632069"/>
                  <a:pt x="7738872" y="5621020"/>
                  <a:pt x="7753096" y="5606796"/>
                </a:cubicBezTo>
                <a:cubicBezTo>
                  <a:pt x="7767320" y="5592572"/>
                  <a:pt x="7778369" y="5576062"/>
                  <a:pt x="7786116" y="5557393"/>
                </a:cubicBezTo>
                <a:cubicBezTo>
                  <a:pt x="7793863" y="5538724"/>
                  <a:pt x="7797673" y="5519293"/>
                  <a:pt x="7797673" y="5499100"/>
                </a:cubicBezTo>
                <a:lnTo>
                  <a:pt x="7797673" y="152400"/>
                </a:lnTo>
                <a:cubicBezTo>
                  <a:pt x="7797673" y="132207"/>
                  <a:pt x="7793863" y="112776"/>
                  <a:pt x="7786116" y="94107"/>
                </a:cubicBezTo>
                <a:cubicBezTo>
                  <a:pt x="7778369" y="75438"/>
                  <a:pt x="7767320" y="58928"/>
                  <a:pt x="7753096" y="44704"/>
                </a:cubicBezTo>
                <a:cubicBezTo>
                  <a:pt x="7738872" y="30480"/>
                  <a:pt x="7722362" y="19431"/>
                  <a:pt x="7703693" y="11684"/>
                </a:cubicBezTo>
                <a:cubicBezTo>
                  <a:pt x="7685024" y="3937"/>
                  <a:pt x="7665593" y="0"/>
                  <a:pt x="76454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6215" r="-1621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647700" y="6621590"/>
            <a:ext cx="58206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Runs fully on-device with real-time, low-latency processing. Closest to a practical automotive deployment scenario.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7829550" y="6621590"/>
            <a:ext cx="565220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Accessible via any browser for sharing and demonstration. Slower than local due to browser-server video streaming.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647700" y="563690"/>
            <a:ext cx="3917432" cy="77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9E97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</a:t>
            </a:r>
            <a:endParaRPr/>
          </a:p>
          <a:p>
            <a:pPr indent="0" lvl="0" marL="0" marR="0" rtl="0" algn="l">
              <a:lnSpc>
                <a:spcPct val="112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edge runtime</a:t>
            </a:r>
            <a:endParaRPr/>
          </a:p>
        </p:txBody>
      </p:sp>
      <p:sp>
        <p:nvSpPr>
          <p:cNvPr id="299" name="Google Shape;299;p12"/>
          <p:cNvSpPr txBox="1"/>
          <p:nvPr/>
        </p:nvSpPr>
        <p:spPr>
          <a:xfrm>
            <a:off x="7829550" y="563690"/>
            <a:ext cx="4985461" cy="122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9E97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Hosted</a:t>
            </a:r>
            <a:endParaRPr/>
          </a:p>
          <a:p>
            <a:pPr indent="0" lvl="0" marL="0" marR="0" rtl="0" algn="l">
              <a:lnSpc>
                <a:spcPct val="112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Hosted on Hugging Face Spaces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/>
          <p:nvPr/>
        </p:nvSpPr>
        <p:spPr>
          <a:xfrm>
            <a:off x="0" y="-953"/>
            <a:ext cx="14401800" cy="8107680"/>
          </a:xfrm>
          <a:custGeom>
            <a:rect b="b" l="l" r="r" t="t"/>
            <a:pathLst>
              <a:path extrusionOk="0" h="8107680" w="14401800">
                <a:moveTo>
                  <a:pt x="0" y="0"/>
                </a:moveTo>
                <a:lnTo>
                  <a:pt x="14401800" y="0"/>
                </a:lnTo>
                <a:lnTo>
                  <a:pt x="14401800" y="8107681"/>
                </a:lnTo>
                <a:lnTo>
                  <a:pt x="0" y="81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3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3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3"/>
          <p:cNvSpPr/>
          <p:nvPr/>
        </p:nvSpPr>
        <p:spPr>
          <a:xfrm>
            <a:off x="0" y="-1143"/>
            <a:ext cx="14401800" cy="8098536"/>
          </a:xfrm>
          <a:custGeom>
            <a:rect b="b" l="l" r="r" t="t"/>
            <a:pathLst>
              <a:path extrusionOk="0" h="8098536" w="14401800">
                <a:moveTo>
                  <a:pt x="0" y="0"/>
                </a:moveTo>
                <a:lnTo>
                  <a:pt x="14401800" y="0"/>
                </a:lnTo>
                <a:lnTo>
                  <a:pt x="14401800" y="8098536"/>
                </a:lnTo>
                <a:lnTo>
                  <a:pt x="0" y="8098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1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1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1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3"/>
          <p:cNvSpPr/>
          <p:nvPr/>
        </p:nvSpPr>
        <p:spPr>
          <a:xfrm>
            <a:off x="0" y="0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3"/>
          <p:cNvSpPr/>
          <p:nvPr/>
        </p:nvSpPr>
        <p:spPr>
          <a:xfrm>
            <a:off x="0" y="5144"/>
            <a:ext cx="14401800" cy="8101584"/>
          </a:xfrm>
          <a:custGeom>
            <a:rect b="b" l="l" r="r" t="t"/>
            <a:pathLst>
              <a:path extrusionOk="0" h="10802112" w="19202400">
                <a:moveTo>
                  <a:pt x="0" y="0"/>
                </a:moveTo>
                <a:lnTo>
                  <a:pt x="19202400" y="0"/>
                </a:lnTo>
                <a:lnTo>
                  <a:pt x="19202400" y="10802112"/>
                </a:lnTo>
                <a:lnTo>
                  <a:pt x="0" y="10802112"/>
                </a:lnTo>
                <a:lnTo>
                  <a:pt x="0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</p:sp>
      <p:sp>
        <p:nvSpPr>
          <p:cNvPr id="314" name="Google Shape;314;p13"/>
          <p:cNvSpPr txBox="1"/>
          <p:nvPr/>
        </p:nvSpPr>
        <p:spPr>
          <a:xfrm>
            <a:off x="1000125" y="727475"/>
            <a:ext cx="740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outcomes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1304925" y="2483050"/>
            <a:ext cx="36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monitoring</a:t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2129876" y="2824610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1304925" y="4816678"/>
            <a:ext cx="2090518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Fatigue scoring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1809302" y="515823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19" name="Google Shape;319;p13"/>
          <p:cNvSpPr txBox="1"/>
          <p:nvPr/>
        </p:nvSpPr>
        <p:spPr>
          <a:xfrm>
            <a:off x="5457825" y="4816675"/>
            <a:ext cx="294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Yawn logic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5917111" y="515823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5457825" y="2483050"/>
            <a:ext cx="36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 detection</a:t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5915320" y="2824610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23" name="Google Shape;323;p13"/>
          <p:cNvSpPr txBox="1"/>
          <p:nvPr/>
        </p:nvSpPr>
        <p:spPr>
          <a:xfrm>
            <a:off x="9715500" y="2483053"/>
            <a:ext cx="3004595" cy="68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Driver proﬁle</a:t>
            </a:r>
            <a:endParaRPr/>
          </a:p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Personalized baselinecreated and </a:t>
            </a:r>
            <a:endParaRPr/>
          </a:p>
        </p:txBody>
      </p:sp>
      <p:sp>
        <p:nvSpPr>
          <p:cNvPr id="324" name="Google Shape;324;p13"/>
          <p:cNvSpPr txBox="1"/>
          <p:nvPr/>
        </p:nvSpPr>
        <p:spPr>
          <a:xfrm>
            <a:off x="11557549" y="2824610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25" name="Google Shape;325;p13"/>
          <p:cNvSpPr txBox="1"/>
          <p:nvPr/>
        </p:nvSpPr>
        <p:spPr>
          <a:xfrm>
            <a:off x="9715500" y="4816675"/>
            <a:ext cx="265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Deployment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10337006" y="5158235"/>
            <a:ext cx="47892" cy="3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  <p:sp>
        <p:nvSpPr>
          <p:cNvPr id="327" name="Google Shape;327;p13"/>
          <p:cNvSpPr txBox="1"/>
          <p:nvPr/>
        </p:nvSpPr>
        <p:spPr>
          <a:xfrm>
            <a:off x="1304925" y="2929385"/>
            <a:ext cx="2585314" cy="46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Real-timelocalsystemisfully functional</a:t>
            </a:r>
            <a:endParaRPr/>
          </a:p>
        </p:txBody>
      </p:sp>
      <p:sp>
        <p:nvSpPr>
          <p:cNvPr id="328" name="Google Shape;328;p13"/>
          <p:cNvSpPr txBox="1"/>
          <p:nvPr/>
        </p:nvSpPr>
        <p:spPr>
          <a:xfrm>
            <a:off x="1304925" y="5263010"/>
            <a:ext cx="2659694" cy="46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Scoreupdatesdynamically via personal deviation</a:t>
            </a:r>
            <a:endParaRPr/>
          </a:p>
        </p:txBody>
      </p:sp>
      <p:sp>
        <p:nvSpPr>
          <p:cNvPr id="329" name="Google Shape;329;p13"/>
          <p:cNvSpPr txBox="1"/>
          <p:nvPr/>
        </p:nvSpPr>
        <p:spPr>
          <a:xfrm>
            <a:off x="5457825" y="5263010"/>
            <a:ext cx="2801083" cy="46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Morerobustthansimple mouth- threshold systems</a:t>
            </a:r>
            <a:endParaRPr/>
          </a:p>
        </p:txBody>
      </p:sp>
      <p:sp>
        <p:nvSpPr>
          <p:cNvPr id="330" name="Google Shape;330;p13"/>
          <p:cNvSpPr txBox="1"/>
          <p:nvPr/>
        </p:nvSpPr>
        <p:spPr>
          <a:xfrm>
            <a:off x="5457825" y="2929385"/>
            <a:ext cx="3399892" cy="46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Face,eye,andmouthregionsdetected live</a:t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9715500" y="3167510"/>
            <a:ext cx="2014623" cy="22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reused across sessions</a:t>
            </a:r>
            <a:endParaRPr/>
          </a:p>
        </p:txBody>
      </p:sp>
      <p:sp>
        <p:nvSpPr>
          <p:cNvPr id="332" name="Google Shape;332;p13"/>
          <p:cNvSpPr txBox="1"/>
          <p:nvPr/>
        </p:nvSpPr>
        <p:spPr>
          <a:xfrm>
            <a:off x="9715500" y="5263010"/>
            <a:ext cx="3126038" cy="22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Hostedversionconﬁrms accessible 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9715500" y="5501135"/>
            <a:ext cx="1034072" cy="227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9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deployment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1000125" y="7366102"/>
            <a:ext cx="4904994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 based on local system testing and hosted deployment validation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4"/>
          <p:cNvGrpSpPr/>
          <p:nvPr/>
        </p:nvGrpSpPr>
        <p:grpSpPr>
          <a:xfrm>
            <a:off x="1891623" y="975532"/>
            <a:ext cx="4801592" cy="3181890"/>
            <a:chOff x="63898" y="75322"/>
            <a:chExt cx="14492032" cy="9603493"/>
          </a:xfrm>
        </p:grpSpPr>
        <p:sp>
          <p:nvSpPr>
            <p:cNvPr id="340" name="Google Shape;340;p14"/>
            <p:cNvSpPr/>
            <p:nvPr/>
          </p:nvSpPr>
          <p:spPr>
            <a:xfrm>
              <a:off x="63898" y="75322"/>
              <a:ext cx="14492032" cy="9603493"/>
            </a:xfrm>
            <a:custGeom>
              <a:rect b="b" l="l" r="r" t="t"/>
              <a:pathLst>
                <a:path extrusionOk="0" h="9603493" w="14492032">
                  <a:moveTo>
                    <a:pt x="0" y="0"/>
                  </a:moveTo>
                  <a:lnTo>
                    <a:pt x="14492032" y="0"/>
                  </a:lnTo>
                  <a:lnTo>
                    <a:pt x="14492032" y="9603493"/>
                  </a:lnTo>
                  <a:lnTo>
                    <a:pt x="0" y="9603493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341" name="Google Shape;341;p14"/>
            <p:cNvSpPr/>
            <p:nvPr/>
          </p:nvSpPr>
          <p:spPr>
            <a:xfrm>
              <a:off x="63898" y="75322"/>
              <a:ext cx="14492032" cy="9603493"/>
            </a:xfrm>
            <a:custGeom>
              <a:rect b="b" l="l" r="r" t="t"/>
              <a:pathLst>
                <a:path extrusionOk="0" h="9603493" w="14492032">
                  <a:moveTo>
                    <a:pt x="0" y="0"/>
                  </a:moveTo>
                  <a:lnTo>
                    <a:pt x="14492032" y="0"/>
                  </a:lnTo>
                  <a:lnTo>
                    <a:pt x="14492032" y="9603493"/>
                  </a:lnTo>
                  <a:lnTo>
                    <a:pt x="0" y="96034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2" name="Google Shape;342;p14"/>
            <p:cNvSpPr/>
            <p:nvPr/>
          </p:nvSpPr>
          <p:spPr>
            <a:xfrm>
              <a:off x="63898" y="75322"/>
              <a:ext cx="14492032" cy="9603493"/>
            </a:xfrm>
            <a:custGeom>
              <a:rect b="b" l="l" r="r" t="t"/>
              <a:pathLst>
                <a:path extrusionOk="0" h="9603493" w="14492032">
                  <a:moveTo>
                    <a:pt x="0" y="0"/>
                  </a:moveTo>
                  <a:lnTo>
                    <a:pt x="0" y="9603493"/>
                  </a:lnTo>
                  <a:lnTo>
                    <a:pt x="14492032" y="9603493"/>
                  </a:lnTo>
                  <a:lnTo>
                    <a:pt x="14492032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809" l="-1854" r="-1864" t="-784"/>
              </a:stretch>
            </a:blipFill>
            <a:ln>
              <a:noFill/>
            </a:ln>
          </p:spPr>
        </p:sp>
      </p:grpSp>
      <p:sp>
        <p:nvSpPr>
          <p:cNvPr id="343" name="Google Shape;343;p14"/>
          <p:cNvSpPr/>
          <p:nvPr/>
        </p:nvSpPr>
        <p:spPr>
          <a:xfrm>
            <a:off x="7180729" y="950576"/>
            <a:ext cx="4615672" cy="3100674"/>
          </a:xfrm>
          <a:custGeom>
            <a:rect b="b" l="l" r="r" t="t"/>
            <a:pathLst>
              <a:path extrusionOk="0" h="8426172" w="12543225">
                <a:moveTo>
                  <a:pt x="174818" y="0"/>
                </a:moveTo>
                <a:cubicBezTo>
                  <a:pt x="151655" y="0"/>
                  <a:pt x="129366" y="3184"/>
                  <a:pt x="107950" y="9657"/>
                </a:cubicBezTo>
                <a:cubicBezTo>
                  <a:pt x="86535" y="16131"/>
                  <a:pt x="67596" y="25363"/>
                  <a:pt x="51134" y="37249"/>
                </a:cubicBezTo>
                <a:cubicBezTo>
                  <a:pt x="34672" y="49135"/>
                  <a:pt x="22144" y="63037"/>
                  <a:pt x="13257" y="78637"/>
                </a:cubicBezTo>
                <a:cubicBezTo>
                  <a:pt x="4370" y="94237"/>
                  <a:pt x="0" y="110474"/>
                  <a:pt x="0" y="127348"/>
                </a:cubicBezTo>
                <a:lnTo>
                  <a:pt x="0" y="8426172"/>
                </a:lnTo>
                <a:lnTo>
                  <a:pt x="12543225" y="8426172"/>
                </a:lnTo>
                <a:lnTo>
                  <a:pt x="1254322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747" r="-174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3712883" y="4289374"/>
            <a:ext cx="6935692" cy="3813124"/>
          </a:xfrm>
          <a:custGeom>
            <a:rect b="b" l="l" r="r" t="t"/>
            <a:pathLst>
              <a:path extrusionOk="0" h="3813124" w="6935692">
                <a:moveTo>
                  <a:pt x="0" y="0"/>
                </a:moveTo>
                <a:lnTo>
                  <a:pt x="6935692" y="0"/>
                </a:lnTo>
                <a:lnTo>
                  <a:pt x="6935692" y="3813124"/>
                </a:lnTo>
                <a:lnTo>
                  <a:pt x="0" y="3813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18076"/>
            </a:stretch>
          </a:blipFill>
          <a:ln>
            <a:noFill/>
          </a:ln>
        </p:spPr>
      </p:sp>
      <p:sp>
        <p:nvSpPr>
          <p:cNvPr id="345" name="Google Shape;345;p14"/>
          <p:cNvSpPr txBox="1"/>
          <p:nvPr/>
        </p:nvSpPr>
        <p:spPr>
          <a:xfrm>
            <a:off x="4986751" y="401375"/>
            <a:ext cx="54597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Live system output</a:t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3666830" y="5049965"/>
            <a:ext cx="460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5"/>
          <p:cNvGrpSpPr/>
          <p:nvPr/>
        </p:nvGrpSpPr>
        <p:grpSpPr>
          <a:xfrm>
            <a:off x="-3" y="14466"/>
            <a:ext cx="14401800" cy="8096250"/>
            <a:chOff x="63500" y="63500"/>
            <a:chExt cx="14401800" cy="8096250"/>
          </a:xfrm>
        </p:grpSpPr>
        <p:sp>
          <p:nvSpPr>
            <p:cNvPr id="352" name="Google Shape;352;p15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353" name="Google Shape;353;p15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4" name="Google Shape;354;p15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</p:grpSp>
      <p:sp>
        <p:nvSpPr>
          <p:cNvPr id="355" name="Google Shape;355;p15"/>
          <p:cNvSpPr/>
          <p:nvPr/>
        </p:nvSpPr>
        <p:spPr>
          <a:xfrm>
            <a:off x="5217169" y="3723748"/>
            <a:ext cx="323755" cy="1095280"/>
          </a:xfrm>
          <a:custGeom>
            <a:rect b="b" l="l" r="r" t="t"/>
            <a:pathLst>
              <a:path extrusionOk="0" h="1460373" w="431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1308100"/>
                </a:lnTo>
                <a:cubicBezTo>
                  <a:pt x="0" y="1328293"/>
                  <a:pt x="3810" y="1347724"/>
                  <a:pt x="11557" y="1366393"/>
                </a:cubicBezTo>
                <a:cubicBezTo>
                  <a:pt x="19304" y="1385062"/>
                  <a:pt x="30353" y="1401572"/>
                  <a:pt x="44577" y="1415796"/>
                </a:cubicBezTo>
                <a:cubicBezTo>
                  <a:pt x="58801" y="1430020"/>
                  <a:pt x="75311" y="1441069"/>
                  <a:pt x="93980" y="1448816"/>
                </a:cubicBezTo>
                <a:cubicBezTo>
                  <a:pt x="112649" y="1456563"/>
                  <a:pt x="132080" y="1460373"/>
                  <a:pt x="152273" y="1460373"/>
                </a:cubicBezTo>
                <a:lnTo>
                  <a:pt x="279400" y="1460373"/>
                </a:lnTo>
                <a:cubicBezTo>
                  <a:pt x="299593" y="1460373"/>
                  <a:pt x="319024" y="1456563"/>
                  <a:pt x="337693" y="1448816"/>
                </a:cubicBezTo>
                <a:cubicBezTo>
                  <a:pt x="356362" y="1441069"/>
                  <a:pt x="372872" y="1430020"/>
                  <a:pt x="387096" y="1415796"/>
                </a:cubicBezTo>
                <a:cubicBezTo>
                  <a:pt x="401320" y="1401572"/>
                  <a:pt x="412369" y="1385062"/>
                  <a:pt x="420116" y="1366393"/>
                </a:cubicBezTo>
                <a:cubicBezTo>
                  <a:pt x="427863" y="1347724"/>
                  <a:pt x="431673" y="1328293"/>
                  <a:pt x="431673" y="1308100"/>
                </a:cubicBezTo>
                <a:lnTo>
                  <a:pt x="431673" y="152400"/>
                </a:lnTo>
                <a:cubicBezTo>
                  <a:pt x="431673" y="132207"/>
                  <a:pt x="427863" y="112776"/>
                  <a:pt x="420116" y="94107"/>
                </a:cubicBezTo>
                <a:cubicBezTo>
                  <a:pt x="412369" y="75438"/>
                  <a:pt x="401320" y="58928"/>
                  <a:pt x="387096" y="44704"/>
                </a:cubicBezTo>
                <a:cubicBezTo>
                  <a:pt x="372872" y="30480"/>
                  <a:pt x="356362" y="19431"/>
                  <a:pt x="337693" y="11684"/>
                </a:cubicBezTo>
                <a:cubicBezTo>
                  <a:pt x="319024" y="3937"/>
                  <a:pt x="299593" y="0"/>
                  <a:pt x="279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" l="0" r="-29" t="-10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8863969" y="3883244"/>
            <a:ext cx="323755" cy="1095280"/>
          </a:xfrm>
          <a:custGeom>
            <a:rect b="b" l="l" r="r" t="t"/>
            <a:pathLst>
              <a:path extrusionOk="0" h="1460373" w="431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1308100"/>
                </a:lnTo>
                <a:cubicBezTo>
                  <a:pt x="0" y="1328293"/>
                  <a:pt x="3810" y="1347724"/>
                  <a:pt x="11557" y="1366393"/>
                </a:cubicBezTo>
                <a:cubicBezTo>
                  <a:pt x="19304" y="1385062"/>
                  <a:pt x="30353" y="1401572"/>
                  <a:pt x="44577" y="1415796"/>
                </a:cubicBezTo>
                <a:cubicBezTo>
                  <a:pt x="58801" y="1430020"/>
                  <a:pt x="75311" y="1441069"/>
                  <a:pt x="93980" y="1448816"/>
                </a:cubicBezTo>
                <a:cubicBezTo>
                  <a:pt x="112649" y="1456563"/>
                  <a:pt x="132080" y="1460373"/>
                  <a:pt x="152273" y="1460373"/>
                </a:cubicBezTo>
                <a:lnTo>
                  <a:pt x="279400" y="1460373"/>
                </a:lnTo>
                <a:cubicBezTo>
                  <a:pt x="299593" y="1460373"/>
                  <a:pt x="319024" y="1456563"/>
                  <a:pt x="337693" y="1448816"/>
                </a:cubicBezTo>
                <a:cubicBezTo>
                  <a:pt x="356362" y="1441069"/>
                  <a:pt x="372872" y="1430020"/>
                  <a:pt x="387096" y="1415796"/>
                </a:cubicBezTo>
                <a:cubicBezTo>
                  <a:pt x="401320" y="1401572"/>
                  <a:pt x="412369" y="1385062"/>
                  <a:pt x="420116" y="1366393"/>
                </a:cubicBezTo>
                <a:cubicBezTo>
                  <a:pt x="427863" y="1347724"/>
                  <a:pt x="431673" y="1328293"/>
                  <a:pt x="431673" y="1308100"/>
                </a:cubicBezTo>
                <a:lnTo>
                  <a:pt x="431673" y="152400"/>
                </a:lnTo>
                <a:cubicBezTo>
                  <a:pt x="431673" y="132207"/>
                  <a:pt x="427863" y="112776"/>
                  <a:pt x="420116" y="94107"/>
                </a:cubicBezTo>
                <a:cubicBezTo>
                  <a:pt x="412369" y="75438"/>
                  <a:pt x="401320" y="58928"/>
                  <a:pt x="387096" y="44704"/>
                </a:cubicBezTo>
                <a:cubicBezTo>
                  <a:pt x="372872" y="30480"/>
                  <a:pt x="356362" y="19431"/>
                  <a:pt x="337693" y="11684"/>
                </a:cubicBezTo>
                <a:cubicBezTo>
                  <a:pt x="319024" y="3937"/>
                  <a:pt x="299593" y="0"/>
                  <a:pt x="279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" l="0" r="-29" t="-10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2138901" y="3941700"/>
            <a:ext cx="318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Personalized to each driver - not </a:t>
            </a:r>
            <a:endParaRPr/>
          </a:p>
        </p:txBody>
      </p:sp>
      <p:sp>
        <p:nvSpPr>
          <p:cNvPr id="358" name="Google Shape;358;p15"/>
          <p:cNvSpPr txBox="1"/>
          <p:nvPr/>
        </p:nvSpPr>
        <p:spPr>
          <a:xfrm>
            <a:off x="2138899" y="4430925"/>
            <a:ext cx="247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a one-size-ﬁts-all threshold</a:t>
            </a:r>
            <a:endParaRPr/>
          </a:p>
        </p:txBody>
      </p:sp>
      <p:sp>
        <p:nvSpPr>
          <p:cNvPr id="359" name="Google Shape;359;p15"/>
          <p:cNvSpPr txBox="1"/>
          <p:nvPr/>
        </p:nvSpPr>
        <p:spPr>
          <a:xfrm>
            <a:off x="5787950" y="3941698"/>
            <a:ext cx="289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Explainable and real-time - not a 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6141102" y="4430925"/>
            <a:ext cx="230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cloud-only black box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9464051" y="3996150"/>
            <a:ext cx="342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Modular and deployable - built for 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9787902" y="4430925"/>
            <a:ext cx="262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 edge environments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991871" y="1558225"/>
            <a:ext cx="96831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01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this matters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7"/>
          <p:cNvGrpSpPr/>
          <p:nvPr/>
        </p:nvGrpSpPr>
        <p:grpSpPr>
          <a:xfrm>
            <a:off x="63500" y="-453603"/>
            <a:ext cx="14401797" cy="8096247"/>
            <a:chOff x="63500" y="63500"/>
            <a:chExt cx="14401800" cy="8096250"/>
          </a:xfrm>
        </p:grpSpPr>
        <p:sp>
          <p:nvSpPr>
            <p:cNvPr id="369" name="Google Shape;369;p17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370" name="Google Shape;370;p17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1" name="Google Shape;371;p17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72" name="Google Shape;372;p17"/>
          <p:cNvSpPr/>
          <p:nvPr/>
        </p:nvSpPr>
        <p:spPr>
          <a:xfrm>
            <a:off x="414671" y="1134466"/>
            <a:ext cx="6022403" cy="7025279"/>
          </a:xfrm>
          <a:custGeom>
            <a:rect b="b" l="l" r="r" t="t"/>
            <a:pathLst>
              <a:path extrusionOk="0" h="12429664" w="10655300">
                <a:moveTo>
                  <a:pt x="114300" y="0"/>
                </a:moveTo>
                <a:cubicBezTo>
                  <a:pt x="94107" y="0"/>
                  <a:pt x="74676" y="6034"/>
                  <a:pt x="56007" y="18303"/>
                </a:cubicBezTo>
                <a:cubicBezTo>
                  <a:pt x="37338" y="30571"/>
                  <a:pt x="20828" y="48069"/>
                  <a:pt x="6477" y="70596"/>
                </a:cubicBezTo>
                <a:cubicBezTo>
                  <a:pt x="4191" y="74216"/>
                  <a:pt x="2032" y="77836"/>
                  <a:pt x="0" y="81658"/>
                </a:cubicBezTo>
                <a:lnTo>
                  <a:pt x="0" y="12429664"/>
                </a:lnTo>
                <a:lnTo>
                  <a:pt x="10655300" y="12429664"/>
                </a:lnTo>
                <a:lnTo>
                  <a:pt x="10655300" y="241353"/>
                </a:lnTo>
                <a:cubicBezTo>
                  <a:pt x="10655300" y="209373"/>
                  <a:pt x="10651490" y="178601"/>
                  <a:pt x="10643743" y="149035"/>
                </a:cubicBezTo>
                <a:cubicBezTo>
                  <a:pt x="10635996" y="119470"/>
                  <a:pt x="10624947" y="93323"/>
                  <a:pt x="10610723" y="70797"/>
                </a:cubicBezTo>
                <a:cubicBezTo>
                  <a:pt x="10596499" y="48271"/>
                  <a:pt x="10579989" y="30772"/>
                  <a:pt x="10561320" y="18504"/>
                </a:cubicBezTo>
                <a:cubicBezTo>
                  <a:pt x="10542651" y="6235"/>
                  <a:pt x="10523093" y="0"/>
                  <a:pt x="105029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04" l="0" r="0" t="-250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8448675" y="2324100"/>
            <a:ext cx="57150" cy="57150"/>
          </a:xfrm>
          <a:custGeom>
            <a:rect b="b" l="l" r="r" t="t"/>
            <a:pathLst>
              <a:path extrusionOk="0" h="57150" w="57150">
                <a:moveTo>
                  <a:pt x="57150" y="28575"/>
                </a:moveTo>
                <a:cubicBezTo>
                  <a:pt x="57150" y="32385"/>
                  <a:pt x="56388" y="36068"/>
                  <a:pt x="54991" y="39497"/>
                </a:cubicBezTo>
                <a:cubicBezTo>
                  <a:pt x="53594" y="42926"/>
                  <a:pt x="51435" y="46101"/>
                  <a:pt x="48768" y="48768"/>
                </a:cubicBezTo>
                <a:cubicBezTo>
                  <a:pt x="46101" y="51435"/>
                  <a:pt x="43053" y="53467"/>
                  <a:pt x="39497" y="54991"/>
                </a:cubicBezTo>
                <a:cubicBezTo>
                  <a:pt x="35941" y="56515"/>
                  <a:pt x="32385" y="57150"/>
                  <a:pt x="28575" y="57150"/>
                </a:cubicBezTo>
                <a:cubicBezTo>
                  <a:pt x="24765" y="57150"/>
                  <a:pt x="21082" y="56388"/>
                  <a:pt x="17653" y="54991"/>
                </a:cubicBezTo>
                <a:cubicBezTo>
                  <a:pt x="14224" y="53594"/>
                  <a:pt x="11049" y="51435"/>
                  <a:pt x="8382" y="48768"/>
                </a:cubicBezTo>
                <a:cubicBezTo>
                  <a:pt x="5715" y="46101"/>
                  <a:pt x="3683" y="43053"/>
                  <a:pt x="2159" y="39497"/>
                </a:cubicBezTo>
                <a:cubicBezTo>
                  <a:pt x="635" y="35941"/>
                  <a:pt x="0" y="32385"/>
                  <a:pt x="0" y="28575"/>
                </a:cubicBezTo>
                <a:cubicBezTo>
                  <a:pt x="0" y="24765"/>
                  <a:pt x="762" y="21082"/>
                  <a:pt x="2159" y="17653"/>
                </a:cubicBezTo>
                <a:cubicBezTo>
                  <a:pt x="3556" y="14224"/>
                  <a:pt x="5715" y="11049"/>
                  <a:pt x="8382" y="8382"/>
                </a:cubicBezTo>
                <a:cubicBezTo>
                  <a:pt x="11049" y="5715"/>
                  <a:pt x="14097" y="3683"/>
                  <a:pt x="17653" y="2159"/>
                </a:cubicBezTo>
                <a:cubicBezTo>
                  <a:pt x="21209" y="635"/>
                  <a:pt x="24765" y="0"/>
                  <a:pt x="28575" y="0"/>
                </a:cubicBezTo>
                <a:cubicBezTo>
                  <a:pt x="32385" y="0"/>
                  <a:pt x="36068" y="762"/>
                  <a:pt x="39497" y="2159"/>
                </a:cubicBezTo>
                <a:cubicBezTo>
                  <a:pt x="42926" y="3556"/>
                  <a:pt x="46101" y="5715"/>
                  <a:pt x="48768" y="8382"/>
                </a:cubicBezTo>
                <a:cubicBezTo>
                  <a:pt x="51435" y="11049"/>
                  <a:pt x="53467" y="14097"/>
                  <a:pt x="54991" y="17653"/>
                </a:cubicBezTo>
                <a:cubicBezTo>
                  <a:pt x="56515" y="21209"/>
                  <a:pt x="57150" y="24765"/>
                  <a:pt x="57150" y="28575"/>
                </a:cubicBezTo>
                <a:close/>
              </a:path>
            </a:pathLst>
          </a:custGeom>
          <a:solidFill>
            <a:srgbClr val="737373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8477250" y="3222111"/>
            <a:ext cx="57150" cy="57150"/>
          </a:xfrm>
          <a:custGeom>
            <a:rect b="b" l="l" r="r" t="t"/>
            <a:pathLst>
              <a:path extrusionOk="0" h="57150" w="57150">
                <a:moveTo>
                  <a:pt x="57150" y="28575"/>
                </a:moveTo>
                <a:cubicBezTo>
                  <a:pt x="57150" y="32385"/>
                  <a:pt x="56388" y="36068"/>
                  <a:pt x="54991" y="39497"/>
                </a:cubicBezTo>
                <a:cubicBezTo>
                  <a:pt x="53594" y="42926"/>
                  <a:pt x="51435" y="46101"/>
                  <a:pt x="48768" y="48768"/>
                </a:cubicBezTo>
                <a:cubicBezTo>
                  <a:pt x="46101" y="51435"/>
                  <a:pt x="43053" y="53467"/>
                  <a:pt x="39497" y="54991"/>
                </a:cubicBezTo>
                <a:cubicBezTo>
                  <a:pt x="35941" y="56515"/>
                  <a:pt x="32385" y="57150"/>
                  <a:pt x="28575" y="57150"/>
                </a:cubicBezTo>
                <a:cubicBezTo>
                  <a:pt x="24765" y="57150"/>
                  <a:pt x="21082" y="56388"/>
                  <a:pt x="17653" y="54991"/>
                </a:cubicBezTo>
                <a:cubicBezTo>
                  <a:pt x="14224" y="53594"/>
                  <a:pt x="11049" y="51435"/>
                  <a:pt x="8382" y="48768"/>
                </a:cubicBezTo>
                <a:cubicBezTo>
                  <a:pt x="5715" y="46101"/>
                  <a:pt x="3683" y="43053"/>
                  <a:pt x="2159" y="39497"/>
                </a:cubicBezTo>
                <a:cubicBezTo>
                  <a:pt x="635" y="35941"/>
                  <a:pt x="0" y="32385"/>
                  <a:pt x="0" y="28575"/>
                </a:cubicBezTo>
                <a:cubicBezTo>
                  <a:pt x="0" y="24765"/>
                  <a:pt x="762" y="21082"/>
                  <a:pt x="2159" y="17653"/>
                </a:cubicBezTo>
                <a:cubicBezTo>
                  <a:pt x="3556" y="14224"/>
                  <a:pt x="5715" y="11049"/>
                  <a:pt x="8382" y="8382"/>
                </a:cubicBezTo>
                <a:cubicBezTo>
                  <a:pt x="11049" y="5715"/>
                  <a:pt x="14097" y="3683"/>
                  <a:pt x="17653" y="2159"/>
                </a:cubicBezTo>
                <a:cubicBezTo>
                  <a:pt x="21209" y="635"/>
                  <a:pt x="24765" y="0"/>
                  <a:pt x="28575" y="0"/>
                </a:cubicBezTo>
                <a:cubicBezTo>
                  <a:pt x="32385" y="0"/>
                  <a:pt x="36068" y="762"/>
                  <a:pt x="39497" y="2159"/>
                </a:cubicBezTo>
                <a:cubicBezTo>
                  <a:pt x="42926" y="3556"/>
                  <a:pt x="46101" y="5715"/>
                  <a:pt x="48768" y="8382"/>
                </a:cubicBezTo>
                <a:cubicBezTo>
                  <a:pt x="51435" y="11049"/>
                  <a:pt x="53467" y="14097"/>
                  <a:pt x="54991" y="17653"/>
                </a:cubicBezTo>
                <a:cubicBezTo>
                  <a:pt x="56515" y="21209"/>
                  <a:pt x="57150" y="24765"/>
                  <a:pt x="57150" y="28575"/>
                </a:cubicBezTo>
                <a:close/>
              </a:path>
            </a:pathLst>
          </a:custGeom>
          <a:solidFill>
            <a:srgbClr val="737373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8505825" y="3888861"/>
            <a:ext cx="57150" cy="57150"/>
          </a:xfrm>
          <a:custGeom>
            <a:rect b="b" l="l" r="r" t="t"/>
            <a:pathLst>
              <a:path extrusionOk="0" h="57150" w="57150">
                <a:moveTo>
                  <a:pt x="57150" y="28575"/>
                </a:moveTo>
                <a:cubicBezTo>
                  <a:pt x="57150" y="32385"/>
                  <a:pt x="56388" y="36068"/>
                  <a:pt x="54991" y="39497"/>
                </a:cubicBezTo>
                <a:cubicBezTo>
                  <a:pt x="53594" y="42926"/>
                  <a:pt x="51435" y="46101"/>
                  <a:pt x="48768" y="48768"/>
                </a:cubicBezTo>
                <a:cubicBezTo>
                  <a:pt x="46101" y="51435"/>
                  <a:pt x="43053" y="53467"/>
                  <a:pt x="39497" y="54991"/>
                </a:cubicBezTo>
                <a:cubicBezTo>
                  <a:pt x="35941" y="56515"/>
                  <a:pt x="32385" y="57150"/>
                  <a:pt x="28575" y="57150"/>
                </a:cubicBezTo>
                <a:cubicBezTo>
                  <a:pt x="24765" y="57150"/>
                  <a:pt x="21082" y="56388"/>
                  <a:pt x="17653" y="54991"/>
                </a:cubicBezTo>
                <a:cubicBezTo>
                  <a:pt x="14224" y="53594"/>
                  <a:pt x="11049" y="51435"/>
                  <a:pt x="8382" y="48768"/>
                </a:cubicBezTo>
                <a:cubicBezTo>
                  <a:pt x="5715" y="46101"/>
                  <a:pt x="3683" y="43053"/>
                  <a:pt x="2159" y="39497"/>
                </a:cubicBezTo>
                <a:cubicBezTo>
                  <a:pt x="635" y="35941"/>
                  <a:pt x="0" y="32385"/>
                  <a:pt x="0" y="28575"/>
                </a:cubicBezTo>
                <a:cubicBezTo>
                  <a:pt x="0" y="24765"/>
                  <a:pt x="762" y="21082"/>
                  <a:pt x="2159" y="17653"/>
                </a:cubicBezTo>
                <a:cubicBezTo>
                  <a:pt x="3556" y="14224"/>
                  <a:pt x="5715" y="11049"/>
                  <a:pt x="8382" y="8382"/>
                </a:cubicBezTo>
                <a:cubicBezTo>
                  <a:pt x="11049" y="5715"/>
                  <a:pt x="14097" y="3683"/>
                  <a:pt x="17653" y="2159"/>
                </a:cubicBezTo>
                <a:cubicBezTo>
                  <a:pt x="21209" y="635"/>
                  <a:pt x="24765" y="0"/>
                  <a:pt x="28575" y="0"/>
                </a:cubicBezTo>
                <a:cubicBezTo>
                  <a:pt x="32385" y="0"/>
                  <a:pt x="36068" y="762"/>
                  <a:pt x="39497" y="2159"/>
                </a:cubicBezTo>
                <a:cubicBezTo>
                  <a:pt x="42926" y="3556"/>
                  <a:pt x="46101" y="5715"/>
                  <a:pt x="48768" y="8382"/>
                </a:cubicBezTo>
                <a:cubicBezTo>
                  <a:pt x="51435" y="11049"/>
                  <a:pt x="53467" y="14097"/>
                  <a:pt x="54991" y="17653"/>
                </a:cubicBezTo>
                <a:cubicBezTo>
                  <a:pt x="56515" y="21209"/>
                  <a:pt x="57150" y="24765"/>
                  <a:pt x="57150" y="28575"/>
                </a:cubicBezTo>
                <a:close/>
              </a:path>
            </a:pathLst>
          </a:custGeom>
          <a:solidFill>
            <a:srgbClr val="737373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8477250" y="4555611"/>
            <a:ext cx="57150" cy="57150"/>
          </a:xfrm>
          <a:custGeom>
            <a:rect b="b" l="l" r="r" t="t"/>
            <a:pathLst>
              <a:path extrusionOk="0" h="57150" w="57150">
                <a:moveTo>
                  <a:pt x="57150" y="28575"/>
                </a:moveTo>
                <a:cubicBezTo>
                  <a:pt x="57150" y="32385"/>
                  <a:pt x="56388" y="36068"/>
                  <a:pt x="54991" y="39497"/>
                </a:cubicBezTo>
                <a:cubicBezTo>
                  <a:pt x="53594" y="42926"/>
                  <a:pt x="51435" y="46101"/>
                  <a:pt x="48768" y="48768"/>
                </a:cubicBezTo>
                <a:cubicBezTo>
                  <a:pt x="46101" y="51435"/>
                  <a:pt x="43053" y="53467"/>
                  <a:pt x="39497" y="54991"/>
                </a:cubicBezTo>
                <a:cubicBezTo>
                  <a:pt x="35941" y="56515"/>
                  <a:pt x="32385" y="57150"/>
                  <a:pt x="28575" y="57150"/>
                </a:cubicBezTo>
                <a:cubicBezTo>
                  <a:pt x="24765" y="57150"/>
                  <a:pt x="21082" y="56388"/>
                  <a:pt x="17653" y="54991"/>
                </a:cubicBezTo>
                <a:cubicBezTo>
                  <a:pt x="14224" y="53594"/>
                  <a:pt x="11049" y="51435"/>
                  <a:pt x="8382" y="48768"/>
                </a:cubicBezTo>
                <a:cubicBezTo>
                  <a:pt x="5715" y="46101"/>
                  <a:pt x="3683" y="43053"/>
                  <a:pt x="2159" y="39497"/>
                </a:cubicBezTo>
                <a:cubicBezTo>
                  <a:pt x="635" y="35941"/>
                  <a:pt x="0" y="32385"/>
                  <a:pt x="0" y="28575"/>
                </a:cubicBezTo>
                <a:cubicBezTo>
                  <a:pt x="0" y="24765"/>
                  <a:pt x="762" y="21082"/>
                  <a:pt x="2159" y="17653"/>
                </a:cubicBezTo>
                <a:cubicBezTo>
                  <a:pt x="3556" y="14224"/>
                  <a:pt x="5715" y="11049"/>
                  <a:pt x="8382" y="8382"/>
                </a:cubicBezTo>
                <a:cubicBezTo>
                  <a:pt x="11049" y="5715"/>
                  <a:pt x="14097" y="3683"/>
                  <a:pt x="17653" y="2159"/>
                </a:cubicBezTo>
                <a:cubicBezTo>
                  <a:pt x="21209" y="635"/>
                  <a:pt x="24765" y="0"/>
                  <a:pt x="28575" y="0"/>
                </a:cubicBezTo>
                <a:cubicBezTo>
                  <a:pt x="32385" y="0"/>
                  <a:pt x="36068" y="762"/>
                  <a:pt x="39497" y="2159"/>
                </a:cubicBezTo>
                <a:cubicBezTo>
                  <a:pt x="42926" y="3556"/>
                  <a:pt x="46101" y="5715"/>
                  <a:pt x="48768" y="8382"/>
                </a:cubicBezTo>
                <a:cubicBezTo>
                  <a:pt x="51435" y="11049"/>
                  <a:pt x="53467" y="14097"/>
                  <a:pt x="54991" y="17653"/>
                </a:cubicBezTo>
                <a:cubicBezTo>
                  <a:pt x="56515" y="21209"/>
                  <a:pt x="57150" y="24765"/>
                  <a:pt x="57150" y="28575"/>
                </a:cubicBezTo>
                <a:close/>
              </a:path>
            </a:pathLst>
          </a:custGeom>
          <a:solidFill>
            <a:srgbClr val="737373">
              <a:alpha val="3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533400" y="444850"/>
            <a:ext cx="403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Contributions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8728069" y="2137688"/>
            <a:ext cx="5327742" cy="2892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Personalized framework: Baseline-based drowsiness detection calibrated to each individual driver</a:t>
            </a:r>
            <a:endParaRPr/>
          </a:p>
          <a:p>
            <a:pPr indent="0" lvl="0" marL="0" marR="0" rtl="0" algn="l">
              <a:lnSpc>
                <a:spcPct val="2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Multi-signal scoring: Fatigue scoring that combines 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eye, blink, and yawn signals into a uniﬁed metric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prototype: A deployable system validated 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under live driving conditions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 to practice: A bridge from academic 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drowsiness research to practical driver monitoring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7663198" y="5692345"/>
            <a:ext cx="5520294" cy="430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6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Adaptive personalization outperforms universal thresholding as a foundation for drowsiness detection.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18"/>
          <p:cNvGrpSpPr/>
          <p:nvPr/>
        </p:nvGrpSpPr>
        <p:grpSpPr>
          <a:xfrm>
            <a:off x="-3" y="-3"/>
            <a:ext cx="14401797" cy="8096247"/>
            <a:chOff x="63500" y="63500"/>
            <a:chExt cx="14401800" cy="8096250"/>
          </a:xfrm>
        </p:grpSpPr>
        <p:sp>
          <p:nvSpPr>
            <p:cNvPr id="385" name="Google Shape;385;p18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386" name="Google Shape;386;p18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7" name="Google Shape;387;p18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88" name="Google Shape;388;p18"/>
          <p:cNvSpPr/>
          <p:nvPr/>
        </p:nvSpPr>
        <p:spPr>
          <a:xfrm>
            <a:off x="7677150" y="1866900"/>
            <a:ext cx="6191155" cy="5705380"/>
          </a:xfrm>
          <a:custGeom>
            <a:rect b="b" l="l" r="r" t="t"/>
            <a:pathLst>
              <a:path extrusionOk="0" h="7607173" w="82548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7454900"/>
                </a:lnTo>
                <a:cubicBezTo>
                  <a:pt x="0" y="7475093"/>
                  <a:pt x="3810" y="7494524"/>
                  <a:pt x="11557" y="7513193"/>
                </a:cubicBezTo>
                <a:cubicBezTo>
                  <a:pt x="19304" y="7531862"/>
                  <a:pt x="30353" y="7548372"/>
                  <a:pt x="44577" y="7562596"/>
                </a:cubicBezTo>
                <a:cubicBezTo>
                  <a:pt x="58801" y="7576820"/>
                  <a:pt x="75311" y="7587869"/>
                  <a:pt x="93980" y="7595616"/>
                </a:cubicBezTo>
                <a:cubicBezTo>
                  <a:pt x="112649" y="7603363"/>
                  <a:pt x="132080" y="7607173"/>
                  <a:pt x="152273" y="7607173"/>
                </a:cubicBezTo>
                <a:lnTo>
                  <a:pt x="8102600" y="7607173"/>
                </a:lnTo>
                <a:cubicBezTo>
                  <a:pt x="8122793" y="7607173"/>
                  <a:pt x="8142224" y="7603363"/>
                  <a:pt x="8160893" y="7595616"/>
                </a:cubicBezTo>
                <a:cubicBezTo>
                  <a:pt x="8179562" y="7587869"/>
                  <a:pt x="8196072" y="7576820"/>
                  <a:pt x="8210296" y="7562596"/>
                </a:cubicBezTo>
                <a:cubicBezTo>
                  <a:pt x="8224520" y="7548372"/>
                  <a:pt x="8235569" y="7531862"/>
                  <a:pt x="8243316" y="7513193"/>
                </a:cubicBezTo>
                <a:cubicBezTo>
                  <a:pt x="8251063" y="7494524"/>
                  <a:pt x="8254873" y="7475093"/>
                  <a:pt x="8254873" y="7454900"/>
                </a:cubicBezTo>
                <a:lnTo>
                  <a:pt x="8254873" y="152400"/>
                </a:lnTo>
                <a:cubicBezTo>
                  <a:pt x="8254873" y="132207"/>
                  <a:pt x="8251063" y="112776"/>
                  <a:pt x="8243316" y="94107"/>
                </a:cubicBezTo>
                <a:cubicBezTo>
                  <a:pt x="8235569" y="75438"/>
                  <a:pt x="8224520" y="58928"/>
                  <a:pt x="8210296" y="44704"/>
                </a:cubicBezTo>
                <a:cubicBezTo>
                  <a:pt x="8196072" y="30480"/>
                  <a:pt x="8179562" y="19431"/>
                  <a:pt x="8160893" y="11684"/>
                </a:cubicBezTo>
                <a:cubicBezTo>
                  <a:pt x="8142224" y="3937"/>
                  <a:pt x="8122793" y="0"/>
                  <a:pt x="81026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75" l="0" r="-1" t="-433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533400" y="432206"/>
            <a:ext cx="3031560" cy="78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</a:t>
            </a:r>
            <a:endParaRPr/>
          </a:p>
        </p:txBody>
      </p:sp>
      <p:sp>
        <p:nvSpPr>
          <p:cNvPr id="390" name="Google Shape;390;p18"/>
          <p:cNvSpPr txBox="1"/>
          <p:nvPr/>
        </p:nvSpPr>
        <p:spPr>
          <a:xfrm>
            <a:off x="533400" y="3002090"/>
            <a:ext cx="3065755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 should not rely on universal blink rules. Every driver has a different resting baseline, and ﬁxed thresholds produce false positives that erode trust. Personalized calibration improves both realism and interpretability — the system explains deviations relative to the individual, not a population average. EAR, MAR, and head pose work together to produce a multi-signal deviation score that is more robust than any single metric alone.</a:t>
            </a:r>
            <a:endParaRPr/>
          </a:p>
        </p:txBody>
      </p:sp>
      <p:sp>
        <p:nvSpPr>
          <p:cNvPr id="391" name="Google Shape;391;p18"/>
          <p:cNvSpPr txBox="1"/>
          <p:nvPr/>
        </p:nvSpPr>
        <p:spPr>
          <a:xfrm>
            <a:off x="4057650" y="3002090"/>
            <a:ext cx="3043895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deployment behaves like a practical edge system — low- latency, offline-capable, and suitable for in-vehicle integration. Hosted deployment demonstrates public accessibility, enabling remote testing and broader evaluation without hardware constraints. The project is a strong foundation for future research and product- grade development in personalized driver safety systems.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19"/>
          <p:cNvGrpSpPr/>
          <p:nvPr/>
        </p:nvGrpSpPr>
        <p:grpSpPr>
          <a:xfrm>
            <a:off x="-3" y="-3"/>
            <a:ext cx="14401797" cy="8096247"/>
            <a:chOff x="63500" y="63500"/>
            <a:chExt cx="14401800" cy="8096250"/>
          </a:xfrm>
        </p:grpSpPr>
        <p:sp>
          <p:nvSpPr>
            <p:cNvPr id="397" name="Google Shape;397;p19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398" name="Google Shape;398;p19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9" name="Google Shape;399;p19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</p:grpSp>
      <p:sp>
        <p:nvSpPr>
          <p:cNvPr id="400" name="Google Shape;400;p19"/>
          <p:cNvSpPr/>
          <p:nvPr/>
        </p:nvSpPr>
        <p:spPr>
          <a:xfrm>
            <a:off x="8591550" y="533400"/>
            <a:ext cx="5276755" cy="7038880"/>
          </a:xfrm>
          <a:custGeom>
            <a:rect b="b" l="l" r="r" t="t"/>
            <a:pathLst>
              <a:path extrusionOk="0" h="9385173" w="7035673">
                <a:moveTo>
                  <a:pt x="152400" y="0"/>
                </a:moveTo>
                <a:cubicBezTo>
                  <a:pt x="132207" y="0"/>
                  <a:pt x="112776" y="3810"/>
                  <a:pt x="94107" y="11557"/>
                </a:cubicBezTo>
                <a:cubicBezTo>
                  <a:pt x="75438" y="19304"/>
                  <a:pt x="58928" y="30353"/>
                  <a:pt x="44577" y="44577"/>
                </a:cubicBezTo>
                <a:cubicBezTo>
                  <a:pt x="30226" y="58801"/>
                  <a:pt x="19304" y="75438"/>
                  <a:pt x="11557" y="94107"/>
                </a:cubicBezTo>
                <a:cubicBezTo>
                  <a:pt x="3810" y="112776"/>
                  <a:pt x="0" y="132207"/>
                  <a:pt x="0" y="152400"/>
                </a:cubicBezTo>
                <a:lnTo>
                  <a:pt x="0" y="9232900"/>
                </a:lnTo>
                <a:cubicBezTo>
                  <a:pt x="0" y="9253093"/>
                  <a:pt x="3810" y="9272524"/>
                  <a:pt x="11557" y="9291193"/>
                </a:cubicBezTo>
                <a:cubicBezTo>
                  <a:pt x="19304" y="9309862"/>
                  <a:pt x="30353" y="9326372"/>
                  <a:pt x="44577" y="9340596"/>
                </a:cubicBezTo>
                <a:cubicBezTo>
                  <a:pt x="58801" y="9354820"/>
                  <a:pt x="75311" y="9365869"/>
                  <a:pt x="93980" y="9373616"/>
                </a:cubicBezTo>
                <a:cubicBezTo>
                  <a:pt x="112649" y="9381363"/>
                  <a:pt x="132080" y="9385173"/>
                  <a:pt x="152273" y="9385173"/>
                </a:cubicBezTo>
                <a:lnTo>
                  <a:pt x="6883400" y="9385173"/>
                </a:lnTo>
                <a:cubicBezTo>
                  <a:pt x="6903593" y="9385173"/>
                  <a:pt x="6923024" y="9381363"/>
                  <a:pt x="6941693" y="9373616"/>
                </a:cubicBezTo>
                <a:cubicBezTo>
                  <a:pt x="6960362" y="9365869"/>
                  <a:pt x="6976872" y="9354820"/>
                  <a:pt x="6991096" y="9340596"/>
                </a:cubicBezTo>
                <a:cubicBezTo>
                  <a:pt x="7005320" y="9326372"/>
                  <a:pt x="7016369" y="9309862"/>
                  <a:pt x="7024116" y="9291193"/>
                </a:cubicBezTo>
                <a:cubicBezTo>
                  <a:pt x="7031863" y="9272524"/>
                  <a:pt x="7035673" y="9253093"/>
                  <a:pt x="7035673" y="9232900"/>
                </a:cubicBezTo>
                <a:lnTo>
                  <a:pt x="7035673" y="152400"/>
                </a:lnTo>
                <a:cubicBezTo>
                  <a:pt x="7035673" y="132207"/>
                  <a:pt x="7031863" y="112776"/>
                  <a:pt x="7024116" y="94107"/>
                </a:cubicBezTo>
                <a:cubicBezTo>
                  <a:pt x="7016369" y="75438"/>
                  <a:pt x="7005320" y="58928"/>
                  <a:pt x="6991096" y="44704"/>
                </a:cubicBezTo>
                <a:cubicBezTo>
                  <a:pt x="6976872" y="30480"/>
                  <a:pt x="6960362" y="19431"/>
                  <a:pt x="6941693" y="11684"/>
                </a:cubicBezTo>
                <a:cubicBezTo>
                  <a:pt x="6923024" y="3937"/>
                  <a:pt x="6903593" y="0"/>
                  <a:pt x="6883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3" l="0" r="-1" t="-94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533400" y="1137675"/>
            <a:ext cx="754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05050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Adaptive Drowsiness Detection</a:t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533400" y="2012627"/>
            <a:ext cx="6971090" cy="154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Learns the driver ﬁrst.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Detects fatigue from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A0A0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deviation, not assumption.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20"/>
          <p:cNvGrpSpPr/>
          <p:nvPr/>
        </p:nvGrpSpPr>
        <p:grpSpPr>
          <a:xfrm>
            <a:off x="-3" y="-3"/>
            <a:ext cx="14401797" cy="8096247"/>
            <a:chOff x="63500" y="63500"/>
            <a:chExt cx="14401800" cy="8096250"/>
          </a:xfrm>
        </p:grpSpPr>
        <p:sp>
          <p:nvSpPr>
            <p:cNvPr id="408" name="Google Shape;408;p20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409" name="Google Shape;409;p20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0" name="Google Shape;410;p20"/>
            <p:cNvSpPr/>
            <p:nvPr/>
          </p:nvSpPr>
          <p:spPr>
            <a:xfrm>
              <a:off x="63500" y="63500"/>
              <a:ext cx="14401800" cy="8096250"/>
            </a:xfrm>
            <a:custGeom>
              <a:rect b="b" l="l" r="r" t="t"/>
              <a:pathLst>
                <a:path extrusionOk="0" h="8096250" w="14401800">
                  <a:moveTo>
                    <a:pt x="0" y="0"/>
                  </a:moveTo>
                  <a:lnTo>
                    <a:pt x="14401800" y="0"/>
                  </a:lnTo>
                  <a:lnTo>
                    <a:pt x="14401800" y="8096250"/>
                  </a:lnTo>
                  <a:lnTo>
                    <a:pt x="0" y="8096250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</p:sp>
      </p:grpSp>
      <p:sp>
        <p:nvSpPr>
          <p:cNvPr id="411" name="Google Shape;411;p20"/>
          <p:cNvSpPr txBox="1"/>
          <p:nvPr/>
        </p:nvSpPr>
        <p:spPr>
          <a:xfrm>
            <a:off x="533400" y="3105912"/>
            <a:ext cx="5109039" cy="1901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F2F2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 you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9494"/>
                </a:solidFill>
                <a:latin typeface="IBM Plex Sans"/>
                <a:ea typeface="IBM Plex Sans"/>
                <a:cs typeface="IBM Plex Sans"/>
                <a:sym typeface="IBM Plex Sans"/>
              </a:rPr>
              <a:t>Happy to walk through any part of the system in more detail.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10670981" y="7316915"/>
            <a:ext cx="32613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9494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Adaptive Driver Drowsiness Detection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