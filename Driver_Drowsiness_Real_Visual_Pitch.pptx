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12680" y="0"/>
            <a:ext cx="2179015" cy="6858000"/>
          </a:xfrm>
          <a:prstGeom prst="rect">
            <a:avLst/>
          </a:prstGeom>
          <a:solidFill>
            <a:srgbClr val="0A0F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8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822960"/>
            <a:ext cx="5303520" cy="502920"/>
          </a:xfrm>
          <a:prstGeom prst="roundRect">
            <a:avLst/>
          </a:prstGeom>
          <a:solidFill>
            <a:srgbClr val="152033"/>
          </a:solidFill>
          <a:ln>
            <a:solidFill>
              <a:srgbClr val="27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RESEARCH PITCH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786384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1F5F9"/>
                </a:solidFill>
              </a:defRPr>
            </a:pPr>
            <a:r>
              <a:t>Adaptive Driver Drowsiness Detection</a:t>
            </a:r>
            <a:br/>
            <a:r>
              <a:t>Using Personalized Baseline Modeling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794760"/>
            <a:ext cx="67665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4A3B8"/>
                </a:solidFill>
              </a:defRPr>
            </a:pPr>
            <a:r>
              <a:t>A real-time, explainable, and deployment-aware driver monitoring framework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4892040"/>
            <a:ext cx="4389120" cy="1188720"/>
          </a:xfrm>
          <a:prstGeom prst="roundRect">
            <a:avLst/>
          </a:prstGeom>
          <a:solidFill>
            <a:srgbClr val="0D1320"/>
          </a:solidFill>
          <a:ln>
            <a:solidFill>
              <a:srgbClr val="27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1F5F9"/>
                </a:solidFill>
              </a:defRPr>
            </a:pPr>
            <a:r>
              <a:t>Nishtha Pandey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B.Tech CSE | Manipal University Jaipur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1097280"/>
            <a:ext cx="2697480" cy="4480560"/>
          </a:xfrm>
          <a:prstGeom prst="roundRect">
            <a:avLst/>
          </a:prstGeom>
          <a:solidFill>
            <a:srgbClr val="0E1726"/>
          </a:solidFill>
          <a:ln>
            <a:solidFill>
              <a:srgbClr val="27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1F5F9"/>
                </a:solidFill>
              </a:defRPr>
            </a:pPr>
            <a:r>
              <a:t>Most drowsiness systems assume a universal blink rule.</a:t>
            </a:r>
          </a:p>
          <a:p>
            <a:pPr algn="ctr">
              <a:defRPr sz="1500">
                <a:solidFill>
                  <a:srgbClr val="38BDF8"/>
                </a:solidFill>
              </a:defRPr>
            </a:pPr>
            <a:r>
              <a:t>This project replaces that assumption with personalized baseline modeling.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12680" y="0"/>
            <a:ext cx="2179015" cy="6858000"/>
          </a:xfrm>
          <a:prstGeom prst="rect">
            <a:avLst/>
          </a:prstGeom>
          <a:solidFill>
            <a:srgbClr val="0A0F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8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347472"/>
            <a:ext cx="384048" cy="164592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566928"/>
            <a:ext cx="9235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Problem Context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7726679" cy="4709160"/>
          </a:xfrm>
          <a:prstGeom prst="roundRect">
            <a:avLst/>
          </a:prstGeom>
          <a:solidFill>
            <a:srgbClr val="0D1320"/>
          </a:solidFill>
          <a:ln>
            <a:solidFill>
              <a:srgbClr val="27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000"/>
              </a:spcAft>
              <a:defRPr sz="1900">
                <a:solidFill>
                  <a:srgbClr val="F1F5F9"/>
                </a:solidFill>
              </a:defRPr>
            </a:pPr>
            <a:r>
              <a:t>Driver drowsiness is a major safety risk that reduces reaction time and concentration.</a:t>
            </a:r>
          </a:p>
          <a:p>
            <a:pPr>
              <a:spcAft>
                <a:spcPts val="1000"/>
              </a:spcAft>
              <a:defRPr sz="1900">
                <a:solidFill>
                  <a:srgbClr val="F1F5F9"/>
                </a:solidFill>
              </a:defRPr>
            </a:pPr>
            <a:r>
              <a:t>Vision-based monitoring is non-invasive, low-cost, and suitable for continuous observation.</a:t>
            </a:r>
          </a:p>
          <a:p>
            <a:pPr>
              <a:spcAft>
                <a:spcPts val="1000"/>
              </a:spcAft>
              <a:defRPr sz="1900">
                <a:solidFill>
                  <a:srgbClr val="F1F5F9"/>
                </a:solidFill>
              </a:defRPr>
            </a:pPr>
            <a:r>
              <a:t>Most existing low-cost systems still rely on static thresholds shared by all users.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1234440"/>
            <a:ext cx="2377440" cy="960120"/>
          </a:xfrm>
          <a:prstGeom prst="roundRect">
            <a:avLst/>
          </a:prstGeom>
          <a:solidFill>
            <a:srgbClr val="152033"/>
          </a:solidFill>
          <a:ln>
            <a:solidFill>
              <a:srgbClr val="27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BBF24"/>
                </a:solidFill>
              </a:defRPr>
            </a:pPr>
            <a:r>
              <a:t>PITCH TAKEAWAY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2423160"/>
            <a:ext cx="2971800" cy="3520440"/>
          </a:xfrm>
          <a:prstGeom prst="roundRect">
            <a:avLst/>
          </a:prstGeom>
          <a:solidFill>
            <a:srgbClr val="0E1726"/>
          </a:solidFill>
          <a:ln>
            <a:solidFill>
              <a:srgbClr val="27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F1F5F9"/>
                </a:solidFill>
              </a:defRPr>
            </a:pPr>
            <a:r>
              <a:t>Key issue: generic thresholds do not reflect natural differences between drivers.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58200" y="2423160"/>
            <a:ext cx="91440" cy="3520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12680" y="0"/>
            <a:ext cx="2179015" cy="6858000"/>
          </a:xfrm>
          <a:prstGeom prst="rect">
            <a:avLst/>
          </a:prstGeom>
          <a:solidFill>
            <a:srgbClr val="0A0F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8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347472"/>
            <a:ext cx="384048" cy="164592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566928"/>
            <a:ext cx="9235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Research Gap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7726679" cy="4709160"/>
          </a:xfrm>
          <a:prstGeom prst="roundRect">
            <a:avLst/>
          </a:prstGeom>
          <a:solidFill>
            <a:srgbClr val="0D1320"/>
          </a:solidFill>
          <a:ln>
            <a:solidFill>
              <a:srgbClr val="27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000"/>
              </a:spcAft>
              <a:defRPr sz="1900">
                <a:solidFill>
                  <a:srgbClr val="F1F5F9"/>
                </a:solidFill>
              </a:defRPr>
            </a:pPr>
            <a:r>
              <a:t>Natural blink rate, eye openness, and fatigue expression vary from person to person.</a:t>
            </a:r>
          </a:p>
          <a:p>
            <a:pPr>
              <a:spcAft>
                <a:spcPts val="1000"/>
              </a:spcAft>
              <a:defRPr sz="1900">
                <a:solidFill>
                  <a:srgbClr val="F1F5F9"/>
                </a:solidFill>
              </a:defRPr>
            </a:pPr>
            <a:r>
              <a:t>Fixed EAR thresholds often create false positives and false negatives.</a:t>
            </a:r>
          </a:p>
          <a:p>
            <a:pPr>
              <a:spcAft>
                <a:spcPts val="1000"/>
              </a:spcAft>
              <a:defRPr sz="1900">
                <a:solidFill>
                  <a:srgbClr val="F1F5F9"/>
                </a:solidFill>
              </a:defRPr>
            </a:pPr>
            <a:r>
              <a:t>Few practical systems combine personalization, explainability, and deployment awareness.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1234440"/>
            <a:ext cx="2377440" cy="960120"/>
          </a:xfrm>
          <a:prstGeom prst="roundRect">
            <a:avLst/>
          </a:prstGeom>
          <a:solidFill>
            <a:srgbClr val="152033"/>
          </a:solidFill>
          <a:ln>
            <a:solidFill>
              <a:srgbClr val="27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BBF24"/>
                </a:solidFill>
              </a:defRPr>
            </a:pPr>
            <a:r>
              <a:t>PITCH TAKEAWAY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2423160"/>
            <a:ext cx="2971800" cy="3520440"/>
          </a:xfrm>
          <a:prstGeom prst="roundRect">
            <a:avLst/>
          </a:prstGeom>
          <a:solidFill>
            <a:srgbClr val="0E1726"/>
          </a:solidFill>
          <a:ln>
            <a:solidFill>
              <a:srgbClr val="27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F1F5F9"/>
                </a:solidFill>
              </a:defRPr>
            </a:pPr>
            <a:r>
              <a:t>We need a personalized, real-time, and deployable drowsiness detection framework.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58200" y="2423160"/>
            <a:ext cx="91440" cy="3520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12680" y="0"/>
            <a:ext cx="2179015" cy="6858000"/>
          </a:xfrm>
          <a:prstGeom prst="rect">
            <a:avLst/>
          </a:prstGeom>
          <a:solidFill>
            <a:srgbClr val="0A0F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8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347472"/>
            <a:ext cx="384048" cy="164592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566928"/>
            <a:ext cx="9235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Proposed Solution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7726679" cy="4709160"/>
          </a:xfrm>
          <a:prstGeom prst="roundRect">
            <a:avLst/>
          </a:prstGeom>
          <a:solidFill>
            <a:srgbClr val="0D1320"/>
          </a:solidFill>
          <a:ln>
            <a:solidFill>
              <a:srgbClr val="27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000"/>
              </a:spcAft>
              <a:defRPr sz="1900">
                <a:solidFill>
                  <a:srgbClr val="F1F5F9"/>
                </a:solidFill>
              </a:defRPr>
            </a:pPr>
            <a:r>
              <a:t>Learn the driver’s normal behavior during an initial calibration period.</a:t>
            </a:r>
          </a:p>
          <a:p>
            <a:pPr>
              <a:spcAft>
                <a:spcPts val="1000"/>
              </a:spcAft>
              <a:defRPr sz="1900">
                <a:solidFill>
                  <a:srgbClr val="F1F5F9"/>
                </a:solidFill>
              </a:defRPr>
            </a:pPr>
            <a:r>
              <a:t>Track EAR, MAR, and 3D head pose continuously in real time.</a:t>
            </a:r>
          </a:p>
          <a:p>
            <a:pPr>
              <a:spcAft>
                <a:spcPts val="1000"/>
              </a:spcAft>
              <a:defRPr sz="1900">
                <a:solidFill>
                  <a:srgbClr val="F1F5F9"/>
                </a:solidFill>
              </a:defRPr>
            </a:pPr>
            <a:r>
              <a:t>Compute fatigue through deviation from the driver’s own baseline instead of universal rules.</a:t>
            </a:r>
          </a:p>
          <a:p>
            <a:pPr>
              <a:spcAft>
                <a:spcPts val="1000"/>
              </a:spcAft>
              <a:defRPr sz="1900">
                <a:solidFill>
                  <a:srgbClr val="F1F5F9"/>
                </a:solidFill>
              </a:defRPr>
            </a:pPr>
            <a:r>
              <a:t>Generate alerts, break recommendations, and runtime logs.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1234440"/>
            <a:ext cx="2377440" cy="960120"/>
          </a:xfrm>
          <a:prstGeom prst="roundRect">
            <a:avLst/>
          </a:prstGeom>
          <a:solidFill>
            <a:srgbClr val="152033"/>
          </a:solidFill>
          <a:ln>
            <a:solidFill>
              <a:srgbClr val="27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BBF24"/>
                </a:solidFill>
              </a:defRPr>
            </a:pPr>
            <a:r>
              <a:t>PITCH TAKEAWAY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2423160"/>
            <a:ext cx="2971800" cy="3520440"/>
          </a:xfrm>
          <a:prstGeom prst="roundRect">
            <a:avLst/>
          </a:prstGeom>
          <a:solidFill>
            <a:srgbClr val="0E1726"/>
          </a:solidFill>
          <a:ln>
            <a:solidFill>
              <a:srgbClr val="27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F1F5F9"/>
                </a:solidFill>
              </a:defRPr>
            </a:pPr>
            <a:r>
              <a:t>Core idea: drowsiness is personal, so detection should be personal too.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58200" y="2423160"/>
            <a:ext cx="91440" cy="3520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12680" y="0"/>
            <a:ext cx="2179015" cy="6858000"/>
          </a:xfrm>
          <a:prstGeom prst="rect">
            <a:avLst/>
          </a:prstGeom>
          <a:solidFill>
            <a:srgbClr val="0A0F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8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347472"/>
            <a:ext cx="384048" cy="164592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566928"/>
            <a:ext cx="9235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System 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43000"/>
            <a:ext cx="8732520" cy="4983480"/>
          </a:xfrm>
          <a:prstGeom prst="roundRect">
            <a:avLst/>
          </a:prstGeom>
          <a:solidFill>
            <a:srgbClr val="0D1320"/>
          </a:solidFill>
          <a:ln>
            <a:solidFill>
              <a:srgbClr val="27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ure_01_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44168"/>
            <a:ext cx="8366760" cy="4572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646920" y="1325880"/>
            <a:ext cx="1828800" cy="3794760"/>
          </a:xfrm>
          <a:prstGeom prst="roundRect">
            <a:avLst/>
          </a:prstGeom>
          <a:solidFill>
            <a:srgbClr val="0E1726"/>
          </a:solidFill>
          <a:ln>
            <a:solidFill>
              <a:srgbClr val="27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F1F5F9"/>
                </a:solidFill>
              </a:defRPr>
            </a:pPr>
            <a:r>
              <a:t>End-to-end architecture of the adaptive monitoring framework.</a:t>
            </a:r>
          </a:p>
          <a:p>
            <a:pPr algn="ctr">
              <a:defRPr sz="1200">
                <a:solidFill>
                  <a:srgbClr val="38BDF8"/>
                </a:solidFill>
              </a:defRPr>
            </a:pPr>
            <a:r>
              <a:t>Research-pitch visual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46920" y="5440680"/>
            <a:ext cx="1828800" cy="502920"/>
          </a:xfrm>
          <a:prstGeom prst="roundRect">
            <a:avLst/>
          </a:prstGeom>
          <a:solidFill>
            <a:srgbClr val="152033"/>
          </a:solidFill>
          <a:ln>
            <a:solidFill>
              <a:srgbClr val="27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BBF24"/>
                </a:solidFill>
              </a:defRPr>
            </a:pPr>
            <a:r>
              <a:t>KEY DIAGRAM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12680" y="0"/>
            <a:ext cx="2179015" cy="6858000"/>
          </a:xfrm>
          <a:prstGeom prst="rect">
            <a:avLst/>
          </a:prstGeom>
          <a:solidFill>
            <a:srgbClr val="0A0F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8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347472"/>
            <a:ext cx="384048" cy="164592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566928"/>
            <a:ext cx="9235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Feature Extraction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7726679" cy="4709160"/>
          </a:xfrm>
          <a:prstGeom prst="roundRect">
            <a:avLst/>
          </a:prstGeom>
          <a:solidFill>
            <a:srgbClr val="0D1320"/>
          </a:solidFill>
          <a:ln>
            <a:solidFill>
              <a:srgbClr val="27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000"/>
              </a:spcAft>
              <a:defRPr sz="1900">
                <a:solidFill>
                  <a:srgbClr val="F1F5F9"/>
                </a:solidFill>
              </a:defRPr>
            </a:pPr>
            <a:r>
              <a:t>EAR measures eye openness and sustained eye closure.</a:t>
            </a:r>
          </a:p>
          <a:p>
            <a:pPr>
              <a:spcAft>
                <a:spcPts val="1000"/>
              </a:spcAft>
              <a:defRPr sz="1900">
                <a:solidFill>
                  <a:srgbClr val="F1F5F9"/>
                </a:solidFill>
              </a:defRPr>
            </a:pPr>
            <a:r>
              <a:t>MAR captures mouth opening and yawn-like behavior.</a:t>
            </a:r>
          </a:p>
          <a:p>
            <a:pPr>
              <a:spcAft>
                <a:spcPts val="1000"/>
              </a:spcAft>
              <a:defRPr sz="1900">
                <a:solidFill>
                  <a:srgbClr val="F1F5F9"/>
                </a:solidFill>
              </a:defRPr>
            </a:pPr>
            <a:r>
              <a:t>3D head pose adds yaw, pitch, and roll as additional fatigue cues.</a:t>
            </a:r>
          </a:p>
          <a:p>
            <a:pPr>
              <a:spcAft>
                <a:spcPts val="1000"/>
              </a:spcAft>
              <a:defRPr sz="1900">
                <a:solidFill>
                  <a:srgbClr val="F1F5F9"/>
                </a:solidFill>
              </a:defRPr>
            </a:pPr>
            <a:r>
              <a:t>Multi-signal monitoring is more robust than single-feature systems.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1234440"/>
            <a:ext cx="2377440" cy="960120"/>
          </a:xfrm>
          <a:prstGeom prst="roundRect">
            <a:avLst/>
          </a:prstGeom>
          <a:solidFill>
            <a:srgbClr val="152033"/>
          </a:solidFill>
          <a:ln>
            <a:solidFill>
              <a:srgbClr val="27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BBF24"/>
                </a:solidFill>
              </a:defRPr>
            </a:pPr>
            <a:r>
              <a:t>PITCH TAKEAWAY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2423160"/>
            <a:ext cx="2971800" cy="3520440"/>
          </a:xfrm>
          <a:prstGeom prst="roundRect">
            <a:avLst/>
          </a:prstGeom>
          <a:solidFill>
            <a:srgbClr val="0E1726"/>
          </a:solidFill>
          <a:ln>
            <a:solidFill>
              <a:srgbClr val="27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F1F5F9"/>
                </a:solidFill>
              </a:defRPr>
            </a:pPr>
            <a:r>
              <a:t>The detector combines eye, mouth, and head behavior into one interpretable pipeline.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58200" y="2423160"/>
            <a:ext cx="91440" cy="3520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12680" y="0"/>
            <a:ext cx="2179015" cy="6858000"/>
          </a:xfrm>
          <a:prstGeom prst="rect">
            <a:avLst/>
          </a:prstGeom>
          <a:solidFill>
            <a:srgbClr val="0A0F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8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347472"/>
            <a:ext cx="384048" cy="164592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566928"/>
            <a:ext cx="9235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Personalized Baseline Modeling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43000"/>
            <a:ext cx="8732520" cy="4983480"/>
          </a:xfrm>
          <a:prstGeom prst="roundRect">
            <a:avLst/>
          </a:prstGeom>
          <a:solidFill>
            <a:srgbClr val="0D1320"/>
          </a:solidFill>
          <a:ln>
            <a:solidFill>
              <a:srgbClr val="27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46920" y="1325880"/>
            <a:ext cx="1828800" cy="3794760"/>
          </a:xfrm>
          <a:prstGeom prst="roundRect">
            <a:avLst/>
          </a:prstGeom>
          <a:solidFill>
            <a:srgbClr val="0E1726"/>
          </a:solidFill>
          <a:ln>
            <a:solidFill>
              <a:srgbClr val="27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F1F5F9"/>
                </a:solidFill>
              </a:defRPr>
            </a:pPr>
            <a:r>
              <a:t>The system first learns the driver and then monitors deviation from that learned profile.</a:t>
            </a:r>
          </a:p>
          <a:p>
            <a:pPr algn="ctr">
              <a:defRPr sz="1200">
                <a:solidFill>
                  <a:srgbClr val="38BDF8"/>
                </a:solidFill>
              </a:defRPr>
            </a:pPr>
            <a:r>
              <a:t>Research-pitch visual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46920" y="5440680"/>
            <a:ext cx="1828800" cy="502920"/>
          </a:xfrm>
          <a:prstGeom prst="roundRect">
            <a:avLst/>
          </a:prstGeom>
          <a:solidFill>
            <a:srgbClr val="152033"/>
          </a:solidFill>
          <a:ln>
            <a:solidFill>
              <a:srgbClr val="27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BBF24"/>
                </a:solidFill>
              </a:defRPr>
            </a:pPr>
            <a:r>
              <a:t>KEY DIAGRAM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143000"/>
            <a:ext cx="8732520" cy="4983480"/>
          </a:xfrm>
          <a:prstGeom prst="rect">
            <a:avLst/>
          </a:prstGeom>
          <a:solidFill>
            <a:srgbClr val="0D1320"/>
          </a:solidFill>
          <a:ln>
            <a:solidFill>
              <a:srgbClr val="27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creenshot 2026-04-14 at 12.01.27 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344168"/>
            <a:ext cx="836676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12680" y="0"/>
            <a:ext cx="2179015" cy="6858000"/>
          </a:xfrm>
          <a:prstGeom prst="rect">
            <a:avLst/>
          </a:prstGeom>
          <a:solidFill>
            <a:srgbClr val="0A0F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8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347472"/>
            <a:ext cx="384048" cy="164592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566928"/>
            <a:ext cx="9235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Deviation-Based Fatigue Scoring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43000"/>
            <a:ext cx="8732520" cy="4983480"/>
          </a:xfrm>
          <a:prstGeom prst="roundRect">
            <a:avLst/>
          </a:prstGeom>
          <a:solidFill>
            <a:srgbClr val="0D1320"/>
          </a:solidFill>
          <a:ln>
            <a:solidFill>
              <a:srgbClr val="27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ure_06_deviation_sco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44168"/>
            <a:ext cx="8366760" cy="4572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646920" y="1325880"/>
            <a:ext cx="1828800" cy="3794760"/>
          </a:xfrm>
          <a:prstGeom prst="roundRect">
            <a:avLst/>
          </a:prstGeom>
          <a:solidFill>
            <a:srgbClr val="0E1726"/>
          </a:solidFill>
          <a:ln>
            <a:solidFill>
              <a:srgbClr val="27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F1F5F9"/>
                </a:solidFill>
              </a:defRPr>
            </a:pPr>
            <a:r>
              <a:t>Fatigue is inferred from abnormal change relative to the individual’s baseline.</a:t>
            </a:r>
          </a:p>
          <a:p>
            <a:pPr algn="ctr">
              <a:defRPr sz="1200">
                <a:solidFill>
                  <a:srgbClr val="38BDF8"/>
                </a:solidFill>
              </a:defRPr>
            </a:pPr>
            <a:r>
              <a:t>Research-pitch visual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46920" y="5440680"/>
            <a:ext cx="1828800" cy="502920"/>
          </a:xfrm>
          <a:prstGeom prst="roundRect">
            <a:avLst/>
          </a:prstGeom>
          <a:solidFill>
            <a:srgbClr val="152033"/>
          </a:solidFill>
          <a:ln>
            <a:solidFill>
              <a:srgbClr val="27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BBF24"/>
                </a:solidFill>
              </a:defRPr>
            </a:pPr>
            <a:r>
              <a:t>KEY DIAGRAM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12680" y="0"/>
            <a:ext cx="2179015" cy="6858000"/>
          </a:xfrm>
          <a:prstGeom prst="rect">
            <a:avLst/>
          </a:prstGeom>
          <a:solidFill>
            <a:srgbClr val="0A0F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8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347472"/>
            <a:ext cx="384048" cy="164592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566928"/>
            <a:ext cx="9235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Alert and Yawn Validation Logic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43000"/>
            <a:ext cx="8732520" cy="4983480"/>
          </a:xfrm>
          <a:prstGeom prst="roundRect">
            <a:avLst/>
          </a:prstGeom>
          <a:solidFill>
            <a:srgbClr val="0D1320"/>
          </a:solidFill>
          <a:ln>
            <a:solidFill>
              <a:srgbClr val="27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46920" y="1325880"/>
            <a:ext cx="1828800" cy="3794760"/>
          </a:xfrm>
          <a:prstGeom prst="roundRect">
            <a:avLst/>
          </a:prstGeom>
          <a:solidFill>
            <a:srgbClr val="0E1726"/>
          </a:solidFill>
          <a:ln>
            <a:solidFill>
              <a:srgbClr val="27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F1F5F9"/>
                </a:solidFill>
              </a:defRPr>
            </a:pPr>
            <a:r>
              <a:t>Normal short blinks and casual mouth opening are filtered before triggering an alert.</a:t>
            </a:r>
          </a:p>
          <a:p>
            <a:pPr algn="ctr">
              <a:defRPr sz="1200">
                <a:solidFill>
                  <a:srgbClr val="38BDF8"/>
                </a:solidFill>
              </a:defRPr>
            </a:pPr>
            <a:r>
              <a:t>Research-pitch visual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46920" y="5440680"/>
            <a:ext cx="1828800" cy="502920"/>
          </a:xfrm>
          <a:prstGeom prst="roundRect">
            <a:avLst/>
          </a:prstGeom>
          <a:solidFill>
            <a:srgbClr val="152033"/>
          </a:solidFill>
          <a:ln>
            <a:solidFill>
              <a:srgbClr val="27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BBF24"/>
                </a:solidFill>
              </a:defRPr>
            </a:pPr>
            <a:r>
              <a:t>KEY DIAGRAM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143000"/>
            <a:ext cx="8732520" cy="4983480"/>
          </a:xfrm>
          <a:prstGeom prst="rect">
            <a:avLst/>
          </a:prstGeom>
          <a:solidFill>
            <a:srgbClr val="0D1320"/>
          </a:solidFill>
          <a:ln>
            <a:solidFill>
              <a:srgbClr val="27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creenshot 2026-04-13 at 11.56.17 P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344168"/>
            <a:ext cx="836676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12680" y="0"/>
            <a:ext cx="2179015" cy="6858000"/>
          </a:xfrm>
          <a:prstGeom prst="rect">
            <a:avLst/>
          </a:prstGeom>
          <a:solidFill>
            <a:srgbClr val="0A0F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8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347472"/>
            <a:ext cx="384048" cy="164592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566928"/>
            <a:ext cx="9235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Implementation Highlights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7726679" cy="4709160"/>
          </a:xfrm>
          <a:prstGeom prst="roundRect">
            <a:avLst/>
          </a:prstGeom>
          <a:solidFill>
            <a:srgbClr val="0D1320"/>
          </a:solidFill>
          <a:ln>
            <a:solidFill>
              <a:srgbClr val="27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000"/>
              </a:spcAft>
              <a:defRPr sz="1900">
                <a:solidFill>
                  <a:srgbClr val="F1F5F9"/>
                </a:solidFill>
              </a:defRPr>
            </a:pPr>
            <a:r>
              <a:t>Migrated the runtime from dlib to MediaPipe for modern compatibility.</a:t>
            </a:r>
          </a:p>
          <a:p>
            <a:pPr>
              <a:spcAft>
                <a:spcPts val="1000"/>
              </a:spcAft>
              <a:defRPr sz="1900">
                <a:solidFill>
                  <a:srgbClr val="F1F5F9"/>
                </a:solidFill>
              </a:defRPr>
            </a:pPr>
            <a:r>
              <a:t>Refactored the monolithic prototype into a modular Python package.</a:t>
            </a:r>
          </a:p>
          <a:p>
            <a:pPr>
              <a:spcAft>
                <a:spcPts val="1000"/>
              </a:spcAft>
              <a:defRPr sz="1900">
                <a:solidFill>
                  <a:srgbClr val="F1F5F9"/>
                </a:solidFill>
              </a:defRPr>
            </a:pPr>
            <a:r>
              <a:t>Added baseline persistence, event logging, session analytics, and deployment paths.</a:t>
            </a:r>
          </a:p>
          <a:p>
            <a:pPr>
              <a:spcAft>
                <a:spcPts val="1000"/>
              </a:spcAft>
              <a:defRPr sz="1900">
                <a:solidFill>
                  <a:srgbClr val="F1F5F9"/>
                </a:solidFill>
              </a:defRPr>
            </a:pPr>
            <a:r>
              <a:t>Improved yawn logic to reduce false positives from speaking.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1234440"/>
            <a:ext cx="2377440" cy="960120"/>
          </a:xfrm>
          <a:prstGeom prst="roundRect">
            <a:avLst/>
          </a:prstGeom>
          <a:solidFill>
            <a:srgbClr val="152033"/>
          </a:solidFill>
          <a:ln>
            <a:solidFill>
              <a:srgbClr val="27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BBF24"/>
                </a:solidFill>
              </a:defRPr>
            </a:pPr>
            <a:r>
              <a:t>PITCH TAKEAWAY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2423160"/>
            <a:ext cx="2971800" cy="3520440"/>
          </a:xfrm>
          <a:prstGeom prst="roundRect">
            <a:avLst/>
          </a:prstGeom>
          <a:solidFill>
            <a:srgbClr val="0E1726"/>
          </a:solidFill>
          <a:ln>
            <a:solidFill>
              <a:srgbClr val="27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F1F5F9"/>
                </a:solidFill>
              </a:defRPr>
            </a:pPr>
            <a:r>
              <a:t>The project evolved from a script prototype into a structured, research-ready system.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58200" y="2423160"/>
            <a:ext cx="91440" cy="3520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394192" y="1170432"/>
            <a:ext cx="3127248" cy="4754880"/>
          </a:xfrm>
          <a:prstGeom prst="rect">
            <a:avLst/>
          </a:prstGeom>
          <a:solidFill>
            <a:srgbClr val="0E1726"/>
          </a:solidFill>
          <a:ln>
            <a:solidFill>
              <a:srgbClr val="27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creenshot 2026-04-13 at 11.59.37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1352" y="1316736"/>
            <a:ext cx="2852928" cy="4114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549640" y="54864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BBF24"/>
                </a:solidFill>
              </a:defRPr>
            </a:pPr>
            <a:r>
              <a:t>Execution snapshot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12680" y="0"/>
            <a:ext cx="2179015" cy="6858000"/>
          </a:xfrm>
          <a:prstGeom prst="rect">
            <a:avLst/>
          </a:prstGeom>
          <a:solidFill>
            <a:srgbClr val="0A0F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8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347472"/>
            <a:ext cx="384048" cy="164592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566928"/>
            <a:ext cx="9235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Deployment Story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43000"/>
            <a:ext cx="8732520" cy="4983480"/>
          </a:xfrm>
          <a:prstGeom prst="roundRect">
            <a:avLst/>
          </a:prstGeom>
          <a:solidFill>
            <a:srgbClr val="0D1320"/>
          </a:solidFill>
          <a:ln>
            <a:solidFill>
              <a:srgbClr val="27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46920" y="1325880"/>
            <a:ext cx="1828800" cy="3794760"/>
          </a:xfrm>
          <a:prstGeom prst="roundRect">
            <a:avLst/>
          </a:prstGeom>
          <a:solidFill>
            <a:srgbClr val="0E1726"/>
          </a:solidFill>
          <a:ln>
            <a:solidFill>
              <a:srgbClr val="27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F1F5F9"/>
                </a:solidFill>
              </a:defRPr>
            </a:pPr>
            <a:r>
              <a:t>Local runtime reflects practical edge deployment, while the hosted app demonstrates accessibility.</a:t>
            </a:r>
          </a:p>
          <a:p>
            <a:pPr algn="ctr">
              <a:defRPr sz="1200">
                <a:solidFill>
                  <a:srgbClr val="38BDF8"/>
                </a:solidFill>
              </a:defRPr>
            </a:pPr>
            <a:r>
              <a:t>Research-pitch visual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46920" y="5440680"/>
            <a:ext cx="1828800" cy="502920"/>
          </a:xfrm>
          <a:prstGeom prst="roundRect">
            <a:avLst/>
          </a:prstGeom>
          <a:solidFill>
            <a:srgbClr val="152033"/>
          </a:solidFill>
          <a:ln>
            <a:solidFill>
              <a:srgbClr val="27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BBF24"/>
                </a:solidFill>
              </a:defRPr>
            </a:pPr>
            <a:r>
              <a:t>KEY DIAGRAM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143000"/>
            <a:ext cx="8732520" cy="4983480"/>
          </a:xfrm>
          <a:prstGeom prst="rect">
            <a:avLst/>
          </a:prstGeom>
          <a:solidFill>
            <a:srgbClr val="0D1320"/>
          </a:solidFill>
          <a:ln>
            <a:solidFill>
              <a:srgbClr val="27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creenshot 2026-04-13 at 11.56.50 P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344168"/>
            <a:ext cx="836676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12680" y="0"/>
            <a:ext cx="2179015" cy="6858000"/>
          </a:xfrm>
          <a:prstGeom prst="rect">
            <a:avLst/>
          </a:prstGeom>
          <a:solidFill>
            <a:srgbClr val="0A0F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8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347472"/>
            <a:ext cx="384048" cy="164592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566928"/>
            <a:ext cx="9235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Current Results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7726679" cy="4709160"/>
          </a:xfrm>
          <a:prstGeom prst="roundRect">
            <a:avLst/>
          </a:prstGeom>
          <a:solidFill>
            <a:srgbClr val="0D1320"/>
          </a:solidFill>
          <a:ln>
            <a:solidFill>
              <a:srgbClr val="27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000"/>
              </a:spcAft>
              <a:defRPr sz="1900">
                <a:solidFill>
                  <a:srgbClr val="F1F5F9"/>
                </a:solidFill>
              </a:defRPr>
            </a:pPr>
            <a:r>
              <a:t>Real-time local monitoring runs successfully with live facial boxes and fatigue scoring.</a:t>
            </a:r>
          </a:p>
          <a:p>
            <a:pPr>
              <a:spcAft>
                <a:spcPts val="1000"/>
              </a:spcAft>
              <a:defRPr sz="1900">
                <a:solidFill>
                  <a:srgbClr val="F1F5F9"/>
                </a:solidFill>
              </a:defRPr>
            </a:pPr>
            <a:r>
              <a:t>The system builds and reuses a per-driver baseline profile.</a:t>
            </a:r>
          </a:p>
          <a:p>
            <a:pPr>
              <a:spcAft>
                <a:spcPts val="1000"/>
              </a:spcAft>
              <a:defRPr sz="1900">
                <a:solidFill>
                  <a:srgbClr val="F1F5F9"/>
                </a:solidFill>
              </a:defRPr>
            </a:pPr>
            <a:r>
              <a:t>Alerts trigger only for sustained abnormal behavior rather than normal blinks.</a:t>
            </a:r>
          </a:p>
          <a:p>
            <a:pPr>
              <a:spcAft>
                <a:spcPts val="1000"/>
              </a:spcAft>
              <a:defRPr sz="1900">
                <a:solidFill>
                  <a:srgbClr val="F1F5F9"/>
                </a:solidFill>
              </a:defRPr>
            </a:pPr>
            <a:r>
              <a:t>Hosted deployment is available for public demonstration, though with browser-server latency.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1234440"/>
            <a:ext cx="2377440" cy="960120"/>
          </a:xfrm>
          <a:prstGeom prst="roundRect">
            <a:avLst/>
          </a:prstGeom>
          <a:solidFill>
            <a:srgbClr val="152033"/>
          </a:solidFill>
          <a:ln>
            <a:solidFill>
              <a:srgbClr val="27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BBF24"/>
                </a:solidFill>
              </a:defRPr>
            </a:pPr>
            <a:r>
              <a:t>PITCH TAKEAWAY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2423160"/>
            <a:ext cx="2971800" cy="3520440"/>
          </a:xfrm>
          <a:prstGeom prst="roundRect">
            <a:avLst/>
          </a:prstGeom>
          <a:solidFill>
            <a:srgbClr val="0E1726"/>
          </a:solidFill>
          <a:ln>
            <a:solidFill>
              <a:srgbClr val="27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F1F5F9"/>
                </a:solidFill>
              </a:defRPr>
            </a:pPr>
            <a:r>
              <a:t>The strongest real-time behavior is achieved in the local edge-style runtime.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58200" y="2423160"/>
            <a:ext cx="91440" cy="3520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394192" y="1170432"/>
            <a:ext cx="3127248" cy="4754880"/>
          </a:xfrm>
          <a:prstGeom prst="rect">
            <a:avLst/>
          </a:prstGeom>
          <a:solidFill>
            <a:srgbClr val="0E1726"/>
          </a:solidFill>
          <a:ln>
            <a:solidFill>
              <a:srgbClr val="27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creenshot 2026-04-13 at 11.56.17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1352" y="1316736"/>
            <a:ext cx="2852928" cy="4114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549640" y="54864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BBF24"/>
                </a:solidFill>
              </a:defRPr>
            </a:pPr>
            <a:r>
              <a:t>Alert-trigger example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12680" y="0"/>
            <a:ext cx="2179015" cy="6858000"/>
          </a:xfrm>
          <a:prstGeom prst="rect">
            <a:avLst/>
          </a:prstGeom>
          <a:solidFill>
            <a:srgbClr val="0A0F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8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347472"/>
            <a:ext cx="384048" cy="164592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566928"/>
            <a:ext cx="9235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Live Output Interface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43000"/>
            <a:ext cx="8732520" cy="4983480"/>
          </a:xfrm>
          <a:prstGeom prst="roundRect">
            <a:avLst/>
          </a:prstGeom>
          <a:solidFill>
            <a:srgbClr val="0D1320"/>
          </a:solidFill>
          <a:ln>
            <a:solidFill>
              <a:srgbClr val="27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46920" y="1325880"/>
            <a:ext cx="1828800" cy="3794760"/>
          </a:xfrm>
          <a:prstGeom prst="roundRect">
            <a:avLst/>
          </a:prstGeom>
          <a:solidFill>
            <a:srgbClr val="0E1726"/>
          </a:solidFill>
          <a:ln>
            <a:solidFill>
              <a:srgbClr val="27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F1F5F9"/>
                </a:solidFill>
              </a:defRPr>
            </a:pPr>
            <a:r>
              <a:t>Representative interface of the final real-time local monitoring system.</a:t>
            </a:r>
          </a:p>
          <a:p>
            <a:pPr algn="ctr">
              <a:defRPr sz="1200">
                <a:solidFill>
                  <a:srgbClr val="38BDF8"/>
                </a:solidFill>
              </a:defRPr>
            </a:pPr>
            <a:r>
              <a:t>Research-pitch visual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46920" y="5440680"/>
            <a:ext cx="1828800" cy="502920"/>
          </a:xfrm>
          <a:prstGeom prst="roundRect">
            <a:avLst/>
          </a:prstGeom>
          <a:solidFill>
            <a:srgbClr val="152033"/>
          </a:solidFill>
          <a:ln>
            <a:solidFill>
              <a:srgbClr val="27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BBF24"/>
                </a:solidFill>
              </a:defRPr>
            </a:pPr>
            <a:r>
              <a:t>KEY DIAGRAM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143000"/>
            <a:ext cx="8732520" cy="4983480"/>
          </a:xfrm>
          <a:prstGeom prst="rect">
            <a:avLst/>
          </a:prstGeom>
          <a:solidFill>
            <a:srgbClr val="0D1320"/>
          </a:solidFill>
          <a:ln>
            <a:solidFill>
              <a:srgbClr val="27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creenshot 2026-04-13 at 11.56.05 P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344168"/>
            <a:ext cx="836676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12680" y="0"/>
            <a:ext cx="2179015" cy="6858000"/>
          </a:xfrm>
          <a:prstGeom prst="rect">
            <a:avLst/>
          </a:prstGeom>
          <a:solidFill>
            <a:srgbClr val="0A0F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8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347472"/>
            <a:ext cx="384048" cy="164592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566928"/>
            <a:ext cx="9235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Research Contribution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43000"/>
            <a:ext cx="8732520" cy="4983480"/>
          </a:xfrm>
          <a:prstGeom prst="roundRect">
            <a:avLst/>
          </a:prstGeom>
          <a:solidFill>
            <a:srgbClr val="0D1320"/>
          </a:solidFill>
          <a:ln>
            <a:solidFill>
              <a:srgbClr val="27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ure_10_contribution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44168"/>
            <a:ext cx="8366760" cy="4572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646920" y="1325880"/>
            <a:ext cx="1828800" cy="3794760"/>
          </a:xfrm>
          <a:prstGeom prst="roundRect">
            <a:avLst/>
          </a:prstGeom>
          <a:solidFill>
            <a:srgbClr val="0E1726"/>
          </a:solidFill>
          <a:ln>
            <a:solidFill>
              <a:srgbClr val="27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F1F5F9"/>
                </a:solidFill>
              </a:defRPr>
            </a:pPr>
            <a:r>
              <a:t>Summary of the technical contributions implemented in the project.</a:t>
            </a:r>
          </a:p>
          <a:p>
            <a:pPr algn="ctr">
              <a:defRPr sz="1200">
                <a:solidFill>
                  <a:srgbClr val="38BDF8"/>
                </a:solidFill>
              </a:defRPr>
            </a:pPr>
            <a:r>
              <a:t>Research-pitch visual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46920" y="5440680"/>
            <a:ext cx="1828800" cy="502920"/>
          </a:xfrm>
          <a:prstGeom prst="roundRect">
            <a:avLst/>
          </a:prstGeom>
          <a:solidFill>
            <a:srgbClr val="152033"/>
          </a:solidFill>
          <a:ln>
            <a:solidFill>
              <a:srgbClr val="27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BBF24"/>
                </a:solidFill>
              </a:defRPr>
            </a:pPr>
            <a:r>
              <a:t>KEY DIAGRAM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12680" y="0"/>
            <a:ext cx="2179015" cy="6858000"/>
          </a:xfrm>
          <a:prstGeom prst="rect">
            <a:avLst/>
          </a:prstGeom>
          <a:solidFill>
            <a:srgbClr val="0A0F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8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347472"/>
            <a:ext cx="384048" cy="164592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566928"/>
            <a:ext cx="9235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Limitations and Future Scope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7726679" cy="4709160"/>
          </a:xfrm>
          <a:prstGeom prst="roundRect">
            <a:avLst/>
          </a:prstGeom>
          <a:solidFill>
            <a:srgbClr val="0D1320"/>
          </a:solidFill>
          <a:ln>
            <a:solidFill>
              <a:srgbClr val="27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000"/>
              </a:spcAft>
              <a:defRPr sz="1900">
                <a:solidFill>
                  <a:srgbClr val="F1F5F9"/>
                </a:solidFill>
              </a:defRPr>
            </a:pPr>
            <a:r>
              <a:t>No large-scale multi-user evaluation has been completed yet.</a:t>
            </a:r>
          </a:p>
          <a:p>
            <a:pPr>
              <a:spcAft>
                <a:spcPts val="1000"/>
              </a:spcAft>
              <a:defRPr sz="1900">
                <a:solidFill>
                  <a:srgbClr val="F1F5F9"/>
                </a:solidFill>
              </a:defRPr>
            </a:pPr>
            <a:r>
              <a:t>Hosted browser deployment is slower than native local execution.</a:t>
            </a:r>
          </a:p>
          <a:p>
            <a:pPr>
              <a:spcAft>
                <a:spcPts val="1000"/>
              </a:spcAft>
              <a:defRPr sz="1900">
                <a:solidFill>
                  <a:srgbClr val="F1F5F9"/>
                </a:solidFill>
              </a:defRPr>
            </a:pPr>
            <a:r>
              <a:t>Future work includes gaze estimation, PERCLOS, low-light robustness, and embedded edge deployment.</a:t>
            </a:r>
          </a:p>
          <a:p>
            <a:pPr>
              <a:spcAft>
                <a:spcPts val="1000"/>
              </a:spcAft>
              <a:defRPr sz="1900">
                <a:solidFill>
                  <a:srgbClr val="F1F5F9"/>
                </a:solidFill>
              </a:defRPr>
            </a:pPr>
            <a:r>
              <a:t>A comparative study against fixed-threshold systems would strengthen the research contribution further.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1234440"/>
            <a:ext cx="2377440" cy="960120"/>
          </a:xfrm>
          <a:prstGeom prst="roundRect">
            <a:avLst/>
          </a:prstGeom>
          <a:solidFill>
            <a:srgbClr val="152033"/>
          </a:solidFill>
          <a:ln>
            <a:solidFill>
              <a:srgbClr val="27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BBF24"/>
                </a:solidFill>
              </a:defRPr>
            </a:pPr>
            <a:r>
              <a:t>PITCH TAKEAWAY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2423160"/>
            <a:ext cx="2971800" cy="3520440"/>
          </a:xfrm>
          <a:prstGeom prst="roundRect">
            <a:avLst/>
          </a:prstGeom>
          <a:solidFill>
            <a:srgbClr val="0E1726"/>
          </a:solidFill>
          <a:ln>
            <a:solidFill>
              <a:srgbClr val="27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F1F5F9"/>
                </a:solidFill>
              </a:defRPr>
            </a:pPr>
            <a:r>
              <a:t>The current system is a strong prototype and a solid base for research-paper-level extension.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58200" y="2423160"/>
            <a:ext cx="91440" cy="3520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12680" y="0"/>
            <a:ext cx="2179015" cy="6858000"/>
          </a:xfrm>
          <a:prstGeom prst="rect">
            <a:avLst/>
          </a:prstGeom>
          <a:solidFill>
            <a:srgbClr val="0A0F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8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347472"/>
            <a:ext cx="384048" cy="164592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566928"/>
            <a:ext cx="9235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Conclusion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7726679" cy="4709160"/>
          </a:xfrm>
          <a:prstGeom prst="roundRect">
            <a:avLst/>
          </a:prstGeom>
          <a:solidFill>
            <a:srgbClr val="0D1320"/>
          </a:solidFill>
          <a:ln>
            <a:solidFill>
              <a:srgbClr val="27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000"/>
              </a:spcAft>
              <a:defRPr sz="1900">
                <a:solidFill>
                  <a:srgbClr val="F1F5F9"/>
                </a:solidFill>
              </a:defRPr>
            </a:pPr>
            <a:r>
              <a:t>Driver drowsiness detection should not rely on universal blink rules.</a:t>
            </a:r>
          </a:p>
          <a:p>
            <a:pPr>
              <a:spcAft>
                <a:spcPts val="1000"/>
              </a:spcAft>
              <a:defRPr sz="1900">
                <a:solidFill>
                  <a:srgbClr val="F1F5F9"/>
                </a:solidFill>
              </a:defRPr>
            </a:pPr>
            <a:r>
              <a:t>Personalized baseline modeling improves realism, explainability, and technical defensibility.</a:t>
            </a:r>
          </a:p>
          <a:p>
            <a:pPr>
              <a:spcAft>
                <a:spcPts val="1000"/>
              </a:spcAft>
              <a:defRPr sz="1900">
                <a:solidFill>
                  <a:srgbClr val="F1F5F9"/>
                </a:solidFill>
              </a:defRPr>
            </a:pPr>
            <a:r>
              <a:t>This project demonstrates a practical pipeline combining EAR, MAR, head pose, and adaptive scoring.</a:t>
            </a:r>
          </a:p>
          <a:p>
            <a:pPr>
              <a:spcAft>
                <a:spcPts val="1000"/>
              </a:spcAft>
              <a:defRPr sz="1900">
                <a:solidFill>
                  <a:srgbClr val="F1F5F9"/>
                </a:solidFill>
              </a:defRPr>
            </a:pPr>
            <a:r>
              <a:t>The local runtime is closest to real edge deployment, while the hosted version shows public deployability.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1234440"/>
            <a:ext cx="2377440" cy="960120"/>
          </a:xfrm>
          <a:prstGeom prst="roundRect">
            <a:avLst/>
          </a:prstGeom>
          <a:solidFill>
            <a:srgbClr val="152033"/>
          </a:solidFill>
          <a:ln>
            <a:solidFill>
              <a:srgbClr val="27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BBF24"/>
                </a:solidFill>
              </a:defRPr>
            </a:pPr>
            <a:r>
              <a:t>PITCH TAKEAWAY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2423160"/>
            <a:ext cx="2971800" cy="3520440"/>
          </a:xfrm>
          <a:prstGeom prst="roundRect">
            <a:avLst/>
          </a:prstGeom>
          <a:solidFill>
            <a:srgbClr val="0E1726"/>
          </a:solidFill>
          <a:ln>
            <a:solidFill>
              <a:srgbClr val="27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F1F5F9"/>
                </a:solidFill>
              </a:defRPr>
            </a:pPr>
            <a:r>
              <a:t>Final takeaway: adaptive personalization is a stronger foundation than one-size-fits-all thresholding.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58200" y="2423160"/>
            <a:ext cx="91440" cy="3520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12680" y="0"/>
            <a:ext cx="2179015" cy="6858000"/>
          </a:xfrm>
          <a:prstGeom prst="rect">
            <a:avLst/>
          </a:prstGeom>
          <a:solidFill>
            <a:srgbClr val="0A0F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8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0" y="640080"/>
            <a:ext cx="2743200" cy="2743200"/>
          </a:xfrm>
          <a:prstGeom prst="ellipse">
            <a:avLst/>
          </a:prstGeom>
          <a:solidFill>
            <a:srgbClr val="101E36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103327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BFDBFE"/>
                </a:solidFill>
              </a:defRPr>
            </a:pPr>
            <a:r>
              <a:t>Questions and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